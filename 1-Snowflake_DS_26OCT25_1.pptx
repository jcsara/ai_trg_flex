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61" r:id="rId2"/>
    <p:sldId id="262" r:id="rId3"/>
    <p:sldId id="264" r:id="rId4"/>
    <p:sldId id="274" r:id="rId5"/>
    <p:sldId id="268" r:id="rId6"/>
    <p:sldId id="269" r:id="rId7"/>
    <p:sldId id="272" r:id="rId8"/>
    <p:sldId id="273" r:id="rId9"/>
    <p:sldId id="275" r:id="rId10"/>
    <p:sldId id="270" r:id="rId11"/>
    <p:sldId id="276" r:id="rId12"/>
    <p:sldId id="287" r:id="rId13"/>
    <p:sldId id="281" r:id="rId14"/>
    <p:sldId id="277" r:id="rId15"/>
    <p:sldId id="295" r:id="rId16"/>
    <p:sldId id="279" r:id="rId17"/>
    <p:sldId id="289" r:id="rId18"/>
    <p:sldId id="288" r:id="rId19"/>
    <p:sldId id="290" r:id="rId20"/>
    <p:sldId id="293" r:id="rId21"/>
    <p:sldId id="292" r:id="rId22"/>
    <p:sldId id="282" r:id="rId23"/>
    <p:sldId id="280" r:id="rId24"/>
    <p:sldId id="296" r:id="rId25"/>
    <p:sldId id="297" r:id="rId26"/>
    <p:sldId id="283" r:id="rId27"/>
    <p:sldId id="298" r:id="rId28"/>
    <p:sldId id="299" r:id="rId29"/>
    <p:sldId id="284" r:id="rId30"/>
    <p:sldId id="300" r:id="rId31"/>
    <p:sldId id="301" r:id="rId32"/>
    <p:sldId id="302" r:id="rId33"/>
    <p:sldId id="285" r:id="rId34"/>
    <p:sldId id="303" r:id="rId35"/>
    <p:sldId id="304" r:id="rId36"/>
    <p:sldId id="305" r:id="rId37"/>
    <p:sldId id="306" r:id="rId38"/>
    <p:sldId id="307" r:id="rId39"/>
    <p:sldId id="308" r:id="rId40"/>
    <p:sldId id="286" r:id="rId41"/>
    <p:sldId id="309" r:id="rId42"/>
    <p:sldId id="310" r:id="rId43"/>
    <p:sldId id="311" r:id="rId44"/>
    <p:sldId id="312" r:id="rId45"/>
    <p:sldId id="267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36"/>
    <p:restoredTop sz="82584"/>
  </p:normalViewPr>
  <p:slideViewPr>
    <p:cSldViewPr snapToGrid="0">
      <p:cViewPr varScale="1">
        <p:scale>
          <a:sx n="124" d="100"/>
          <a:sy n="124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C5BF0-1DD9-DD4C-B9AB-7388EA1909E7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81D6DE-A685-AB46-94D5-8C86E6F5E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559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2d1ae07ecd_4_1295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97" name="Google Shape;497;g32d1ae07ecd_4_1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839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4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98C6A-8DB4-03C8-7048-0828B2D30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921E9F-02B3-490C-9861-0AAF0BC76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078AE-D25E-5950-6C3E-CCD3EBE54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3A3A9-AF49-D5AE-DE97-C43EBE868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05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88607-7EAD-A40C-5152-89021F7AE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31CFD1-7CBD-9A76-0F4E-167E592F2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C48F0D-32E5-4855-A8BC-17E2A02C3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3D964-4A60-6351-2D53-363D316142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736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3EC8E-E54F-BE63-C4CD-98261C316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D7D8D2-FC63-4215-2FCE-33AEEEF43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51A1AD-3F8A-A511-7A70-C8A1EE8E8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92746-DB7A-E0A2-B481-C93254AF3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60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4CE7A-D64D-2DE5-C916-D346CA51E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98B298-ABE8-38DC-CF51-1E3C0701FF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3041A8-C105-FF5F-4A98-588DD9D83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DC089-82FC-5CA0-9561-55C13334E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155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9795A-78FB-4E40-4FCD-276EC70C2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B41DAF-E91A-9F6B-D21D-148CEA9A8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47A16B-09F1-7819-A7F3-C39003B5F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066AE-5A50-E591-CA2D-A70D7D62CC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6376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2B5DA-5DBD-2185-2520-8A113ABC1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7F6144-1978-E081-0FFA-6EE185A17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F00D6F-09FF-25EC-4269-1E5F6ED56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77CDA-116B-B724-E6F2-DAD0D18E5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42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4D4C3-4F41-AC23-35F7-6DC9C1738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20073-722B-30AE-92F9-8CB0478BC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85DD1-43AA-A98F-6F44-5195DD06E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847E8-AE42-6DC9-D7D2-83E2722FE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182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AB46A-C989-E3D0-5524-37B412C38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6B481A-DACD-CCC9-9314-9E4048DCF8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39BF8-39EC-2FCD-C700-596DDB27C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6CD0E-0D7F-E8DB-7085-FDA633801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037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24E10-5880-0DAF-D145-E4D8869AB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1591A9-63D7-9CA8-5BCC-488CCFB41B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7990A4-A3AB-4E05-3C69-315984900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B6B2E-70DA-5799-DE39-E1EC0E4518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7628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30C06-5F40-3169-DF47-27AAFA06F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F865BB-BDE1-FF6C-D135-B9A988624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05A525-5A83-935F-B26B-19614F5EB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D3AD9-B808-D683-3C81-42044118C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704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4D7DC-CC33-CB96-2301-0198E7D28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DAA713-6222-D25F-627F-BCB9FA12E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01257-AD20-40A7-F8FB-93E2B50F6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F33B0-06CB-2035-2ACE-FD22521299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635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45C79-43FD-F606-6B3F-FE5B582AE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1C9F1-EFC8-1EDE-632B-6172E084D0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6E0E63-1726-4A20-6671-FB79282164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9D288-5CBB-A811-509B-40C89D00A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8331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3B14C-0CED-1F4A-EAD6-8F460077B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5BFAB9-74CB-EFFF-B0CC-7913DB1F3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1EE8D-F9B5-AEF3-E845-C1145F481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94435-F65D-ABF2-D847-DF84DF7C8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509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5FAF9-A8DE-DA90-3B9F-A6CD63A24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9D570A-3DD3-4CB7-4F81-830908E19B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83507C-801A-58E1-0221-621AEE884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A28B9-6E26-A777-5122-5D306D16B3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7587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30BAB-37FD-4F68-F1C0-5B16CE37B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366E4-448A-3B76-CFFE-417FF6CB5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E5E8E-617F-C0A0-CD57-C8D124F34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96D98-9BA9-A5EE-9AEA-501CC3D97D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986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369B4-2F5D-68E2-3F34-FD96FF2A0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56A35-6653-93D6-17A1-80F6238ED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13FA7A-C3A9-B5C1-ACCB-B12816BDC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197A8-889F-D84B-9DA9-A0CC13E6FB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688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4B675-9046-D866-A253-FFDB62104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A84E81-E29A-B37B-9708-DFB5D69C3B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1EFFB3-C960-B643-C99F-66BC40675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A3E4C-D312-8C05-2ED5-B765EA238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6997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148B5-D8EA-6678-8C61-4DE719730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81DFF2-84D7-72C6-58D3-C555FDF77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57AD4-DD5D-18B4-89D3-31B076A52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E56A9-B5E3-E425-5E1F-74A87064F3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2496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76249-6459-4F10-D2BB-1B688708B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A8530E-0C28-31D5-4522-0448AB2B9E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FE2046-5759-B576-362F-5A1360AE2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71821-9A26-0D5D-C3DA-38334F495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069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13803-AFE1-0768-E569-AA2C316A7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CDD7A5-0255-AE1D-8279-0745E253E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E7B18-FFB1-56C3-498B-4699E5CA0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93A5D-830A-35D8-FA26-B4AF69897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545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2BA93-373F-8181-24E7-0F9F80348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7ADBB-DB1D-DC19-8F24-AB1C6FC02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E784A0-468E-DE38-D083-6F220690C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EB5C0-9BCA-2753-00F8-F122C8786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325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4CBE6-78D4-196E-A766-6CB5E39F2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F3F567-8B9F-C68A-5256-3B4A5D3F0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6F5E1B-5832-923F-3A5D-937D37DD4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1B669-C805-E18F-F830-FF53AC0EF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1235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0D8D4-1339-F80D-01C3-FEF61B15A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9FC20C-7221-7E8F-DE6A-AFA679472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38AEF2-F293-FE35-5027-FF8D1EB71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0E4F1-A69C-AFAF-4040-ABBCDFAD3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321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D5B19-EEF3-8E70-2CCC-5B33DECBE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BFC577-2901-0660-CEAF-078C197FB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F84D52-1CAB-C271-7224-6421396A2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F0903-98B9-40DB-70F9-7737932223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537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D13FB-9755-0A48-5AF3-97FE5B4BA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0A4BA9-16CF-2DB3-B695-F89FEA94F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2C2FD8-E08E-6110-3655-3EC4B645A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D156F-6D12-4221-CADA-74666EF39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975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5B615-9B7B-E2DF-9F8A-C5DBB4DBB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BACB1-9B74-160D-F32A-2F8400199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049E8E-42C7-8BE3-AA23-35106BDF3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F1FC9-D45A-A715-3914-5B995A8362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1907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66AA2-E079-F890-51A0-BC1248FA4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E1ABB-9639-9E09-C299-FB0A4F67A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5FDDC-2602-1AF1-1CEA-BA62DE9F04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2627F-EB12-13E0-8CA9-3416C74C6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5352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5C325-A11C-BF4C-7648-7FDCFBE96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014848-4158-E77B-1349-68A43E1F16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7E5D5-131D-36F0-FEE4-FEFDC9387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91591-4563-1635-4835-B29C93A0BD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0404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719FA-7025-90EA-C222-ABC8891B6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FFB0C-DC2E-3E06-A5C5-AA599B0CE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85E26D-4F41-03C9-F315-F3C9B3217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68B6B-7B8D-064C-2DD2-4ACBEC37F7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789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78DA4-B0EA-4113-FF35-F9022A58A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529924-4346-405F-FB48-FF8C44140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B20840-9BBD-11E3-3C6F-A65170F7A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990EC-2FFD-B7E9-717D-E98BAD42D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2634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E096F-20FB-D1AD-2FFB-DA2515B67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D559C3-28A0-CE7E-6024-649078408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6EBB96-108D-B554-005E-674E295FB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Explainability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Explains </a:t>
            </a:r>
            <a:r>
              <a:rPr lang="en-IN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single prediction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why the model predicted a specific outcome.</a:t>
            </a:r>
          </a:p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 values for one row, LIME explanations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9BB8D-250F-4798-4C03-9958B3C88A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018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1DE5A-0240-0ECC-C496-040284F2E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979A1-0682-D92A-4D4D-807439B1C0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059FC1-7512-BEFD-609B-03D8C42CC3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Explainability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Explains </a:t>
            </a:r>
            <a:r>
              <a:rPr lang="en-IN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single prediction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why the model predicted a specific outcome.</a:t>
            </a:r>
          </a:p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 values for one row, LIME explanations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5F266-7765-BFCC-4BF6-B8D4CE502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5005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2BD6A-9602-8905-E5D1-2140CF2B7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2B459C-F3C1-30F1-BCE3-BAABD794A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38DF89-FDE1-83A9-B8CB-AC9FFB325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Explainability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Explains </a:t>
            </a:r>
            <a:r>
              <a:rPr lang="en-IN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single prediction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why the model predicted a specific outcome.</a:t>
            </a:r>
          </a:p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 values for one row, LIME explanations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E05C5-333D-B833-428E-89AAD1DA15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3134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A5580-205D-E575-5C0F-61F2606E8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B5B37-D3D6-414C-991D-EE6099085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A7B212-A688-F7B0-2780-58C687349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Explainability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Explains </a:t>
            </a:r>
            <a:r>
              <a:rPr lang="en-IN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single prediction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why the model predicted a specific outcome.</a:t>
            </a:r>
          </a:p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 values for one row, LIME explanations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41D20-FB2E-BC96-BC75-288EA44A1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2973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2FB38-A394-751B-7765-1F50DAD50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9F0D8-525C-476F-BAF4-DD5819EACE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FF9EA9-B01A-9ECC-474A-5B1F7BBB7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Explainability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Explains </a:t>
            </a:r>
            <a:r>
              <a:rPr lang="en-IN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single prediction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why the model predicted a specific outcome.</a:t>
            </a:r>
          </a:p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 values for one row, LIME explanations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EFDEA-A4D1-3A56-A29A-961BB90FBB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18105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914EB-1174-965E-03E9-D7D7A7EAC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8FE1E7-C851-D21D-06B8-538AA118D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630A25-D98D-787C-E236-EBCEBFE23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Explainability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Explains </a:t>
            </a:r>
            <a:r>
              <a:rPr lang="en-IN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single prediction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why the model predicted a specific outcome.</a:t>
            </a:r>
          </a:p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 values for one row, LIME explanations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227EA-3175-C1F7-263E-2C2084102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44195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BA7A5-1A9D-9176-A6FE-5D3F39179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D04F54-B30D-225E-1029-D9D13EFD57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AA6EE0-16BA-9B73-5EB7-DAA4D27237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B3BE4-2976-94A7-C4D9-92E497823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1615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0259B-C0CA-01FE-EC1D-63D9577FB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421222-13CF-BAAD-56DF-781572E0A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5FACAB-6E0C-95AE-852E-6AA193EA0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Explainability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Explains </a:t>
            </a:r>
            <a:r>
              <a:rPr lang="en-IN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single prediction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why the model predicted a specific outcome.</a:t>
            </a:r>
          </a:p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 values for one row, LIME explanations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60D31-07BB-7928-0831-4822B13FB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02087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7C21A-B4BA-7B30-13C7-505BC07DE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7973BE-D67C-B5F3-3938-9EFD6B28C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339967-E978-993E-29AB-7572F8A1E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Explainability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Explains </a:t>
            </a:r>
            <a:r>
              <a:rPr lang="en-IN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single prediction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why the model predicted a specific outcome.</a:t>
            </a:r>
          </a:p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 values for one row, LIME explanations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0E990-3DFC-EF12-5A93-19DEAB5590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22897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90F19-1DCF-C191-E94B-C87CAA966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7728AD-EA8B-37AC-D945-A4848A4F5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60C268-2969-CCAB-AA6D-10DF28AEA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Explainability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Explains </a:t>
            </a:r>
            <a:r>
              <a:rPr lang="en-IN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single prediction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why the model predicted a specific outcome.</a:t>
            </a:r>
          </a:p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 values for one row, LIME explanations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B4BE2-3739-F8F7-5927-40F44C1B7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1128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C3AD5-CE99-BEBE-F4C4-1D808F3D4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9A1132-43E6-D43F-E1E7-7F4249A30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3BF7FC-DAF8-BCE9-2A3C-0C32DBB30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Explainability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Explains </a:t>
            </a:r>
            <a:r>
              <a:rPr lang="en-IN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single prediction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why the model predicted a specific outcome.</a:t>
            </a:r>
          </a:p>
          <a:p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 values for one row, LIME explanations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50414-C2AB-866C-D705-DCAB766EF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81D6DE-A685-AB46-94D5-8C86E6F5EBE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95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0B318-CA5F-17C8-9EE5-276ED6222F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E74C8-F095-80B8-F5EA-EB4D5DC63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93A25-EE54-6E1D-12C1-0C4BFF53E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E94E4-CDED-9649-B36A-5CE5ECBF05DA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1D797-1F1A-3BF6-1FAF-0A0F5778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63975-4510-763E-BEC7-E3115872A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A4C4-37AF-6D41-80FF-6131F2E6D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10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2844-4C6B-A117-429D-E11D8A8C1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77C8A-A360-B4D6-E475-7C957486B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57F38-3086-6EF3-A514-B0957966A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E94E4-CDED-9649-B36A-5CE5ECBF05DA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B17BC-846F-73E1-1695-1DCEA83BF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842B1-6A05-4BC9-F4E4-7B053FF91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A4C4-37AF-6D41-80FF-6131F2E6D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9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44254-2CB9-F7D7-1D66-2AB34C688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7309D-48CB-6F9E-C18A-E68505ECF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5605C-B2D5-7005-DF09-1E7B809B5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E94E4-CDED-9649-B36A-5CE5ECBF05DA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B67D4-B15D-F9DA-2FFE-E55AAC2EA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5BB3B-BC20-C76C-69A7-D28B089E4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A4C4-37AF-6D41-80FF-6131F2E6D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098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CE5C2-7797-1D39-6DAC-68C1DA839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164DA-2E6A-8403-1857-59BAC82749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7CD10-4B45-7D9A-17ED-B9B2B41C6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A009C7-A5ED-6A1F-6300-B5569533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E94E4-CDED-9649-B36A-5CE5ECBF05DA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2CE193-5B6A-E1B5-A5ED-F440E8EB0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44B2B-11A2-13C1-E387-DFAE0B541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A4C4-37AF-6D41-80FF-6131F2E6D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454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3516B-D0A2-B2E4-F4D4-27BB79347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4FEB3-31FF-F36D-6C17-90E352C8C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C73A1-0C77-816E-5E03-A321B5B48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DE9681-191A-D32A-30AE-9C7650FD6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C9B2FA-4312-7362-3D00-5B3C89B603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F7F538-4F9D-1083-5B86-A88E7F287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E94E4-CDED-9649-B36A-5CE5ECBF05DA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AE708C-E215-1E10-78A7-F5FE40ED8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919193-25C9-01F4-2BE7-E9B31C70C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A4C4-37AF-6D41-80FF-6131F2E6D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101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7121F-C87C-5AAD-DAE1-86C46D1D8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4DEE46-372F-93D0-987D-F33B3C5B8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E94E4-CDED-9649-B36A-5CE5ECBF05DA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97F60E-3736-A0E0-2791-3094FC13A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00CCD-5159-EB3E-7D81-BE855C122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A4C4-37AF-6D41-80FF-6131F2E6D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19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73966D-F18E-615A-D1E0-0EFA38098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E94E4-CDED-9649-B36A-5CE5ECBF05DA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A7CE7D-02F0-F5A6-A181-C20563479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BB120-63D6-1A76-A873-06EB48A4C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A4C4-37AF-6D41-80FF-6131F2E6D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277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519AD-8CFF-4AA3-4EA9-7A7189AEA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B9ED5-162C-AC39-ADBE-ADB72AC2F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1269A-8ED4-0FEB-FD0C-848510E556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17D47E-B0EB-EC2D-8E88-C2F093E9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E94E4-CDED-9649-B36A-5CE5ECBF05DA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0DBB4-31AE-99F3-109A-F9438A8BA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5B64D-172E-1314-DC24-21B30BA50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A4C4-37AF-6D41-80FF-6131F2E6D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63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E93E6-EA61-E51B-5817-770071217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CA803A-4703-4598-8B70-78EFE9737D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6DAF4A-F8EE-D66B-7B84-A2983E929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D4283-AE22-6E6A-7B8A-6424FD77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E94E4-CDED-9649-B36A-5CE5ECBF05DA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96F7-A5D5-D65E-9D2C-B245E3ADC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2C46E-0BF6-905A-B703-9E015F97C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A4C4-37AF-6D41-80FF-6131F2E6D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6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FEB06-A2E9-4862-820B-6721FEA8F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5F55CB-4780-420A-D4DF-AD708BD0E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38BEE-40BF-75F8-72BD-C5617C8AF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E94E4-CDED-9649-B36A-5CE5ECBF05DA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3014A-07D5-1A9F-AE72-C929D0EC1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A712A-28E0-F060-0A22-24AD97A31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A4C4-37AF-6D41-80FF-6131F2E6D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797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9B58E3-996C-0652-29DE-39B218CDF3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126DA6-54EB-6DF6-32A2-6A5C18FE5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21CEE-A7F6-73CB-3928-CB27258E5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E94E4-CDED-9649-B36A-5CE5ECBF05DA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4661B-A407-CD81-D83D-DE857937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F330A-76A7-FF0D-CFB5-50AF69CA7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A4C4-37AF-6D41-80FF-6131F2E6D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8090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 1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74074" y="6010463"/>
            <a:ext cx="534092" cy="518833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8"/>
          <p:cNvSpPr/>
          <p:nvPr/>
        </p:nvSpPr>
        <p:spPr>
          <a:xfrm rot="-5400000">
            <a:off x="11359396" y="5509347"/>
            <a:ext cx="963600" cy="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rPr>
              <a:t>© 202</a:t>
            </a:r>
            <a:r>
              <a:rPr lang="en-US" sz="600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r>
              <a:rPr lang="en-US" sz="600" b="0" i="0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rPr>
              <a:t> by </a:t>
            </a:r>
            <a:r>
              <a:rPr lang="en-US" sz="600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rPr>
              <a:t>kipi.ai</a:t>
            </a:r>
            <a:endParaRPr sz="600">
              <a:solidFill>
                <a:srgbClr val="87878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6" name="Google Shape;396;p48"/>
          <p:cNvSpPr/>
          <p:nvPr/>
        </p:nvSpPr>
        <p:spPr>
          <a:xfrm>
            <a:off x="464835" y="6356350"/>
            <a:ext cx="11208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rPr>
              <a:t>www.kipi.ai</a:t>
            </a:r>
            <a:endParaRPr sz="600">
              <a:solidFill>
                <a:srgbClr val="87878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97" name="Google Shape;39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63689" y="0"/>
            <a:ext cx="12191987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8028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C08F1E-5EAA-E26F-F393-E3272BCBB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3B24B-3A57-086C-967F-EB29F650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F8232-D779-9F33-D69E-8A053540CB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E94E4-CDED-9649-B36A-5CE5ECBF05DA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929C7-6AF6-1FD4-45FB-AEE70E6215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EE85A-2E08-510D-A8AC-3AD6F8D20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FA4C4-37AF-6D41-80FF-6131F2E6D1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080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7"/>
          <p:cNvSpPr txBox="1"/>
          <p:nvPr/>
        </p:nvSpPr>
        <p:spPr>
          <a:xfrm>
            <a:off x="1999700" y="5424233"/>
            <a:ext cx="38037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00000"/>
              </a:buClr>
              <a:buSzPts val="700"/>
            </a:pPr>
            <a:r>
              <a:rPr lang="en-US" sz="700" i="1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content of this presentation is proprietary and confidential information of </a:t>
            </a:r>
            <a:r>
              <a:rPr lang="en-US" sz="700" i="1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kipi.ai</a:t>
            </a:r>
            <a:r>
              <a:rPr lang="en-US" sz="700" i="1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This presentation</a:t>
            </a:r>
            <a:r>
              <a:rPr lang="en-US" sz="7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700" i="1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is not intended to be distributed to any third party without the prior written consent of </a:t>
            </a:r>
            <a:r>
              <a:rPr lang="en-US" sz="700" i="1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kipi.ai</a:t>
            </a:r>
            <a:endParaRPr sz="7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00" name="Google Shape;500;p67"/>
          <p:cNvSpPr txBox="1"/>
          <p:nvPr/>
        </p:nvSpPr>
        <p:spPr>
          <a:xfrm>
            <a:off x="721998" y="2003112"/>
            <a:ext cx="5183502" cy="263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algn="ctr">
              <a:buClr>
                <a:schemeClr val="dk1"/>
              </a:buClr>
            </a:pPr>
            <a:r>
              <a:rPr lang="en-US" sz="5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TO END ML WITH SNOWFLAKE</a:t>
            </a:r>
            <a:endParaRPr sz="5400" b="1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01" name="Google Shape;501;p67"/>
          <p:cNvPicPr preferRelativeResize="0"/>
          <p:nvPr/>
        </p:nvPicPr>
        <p:blipFill rotWithShape="1">
          <a:blip r:embed="rId3">
            <a:alphaModFix/>
          </a:blip>
          <a:srcRect t="2226" b="2216"/>
          <a:stretch/>
        </p:blipFill>
        <p:spPr>
          <a:xfrm>
            <a:off x="10722521" y="352332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67"/>
          <p:cNvSpPr/>
          <p:nvPr/>
        </p:nvSpPr>
        <p:spPr>
          <a:xfrm>
            <a:off x="10808700" y="0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90905-2566-15D7-5517-0FB66B23E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5D89874-6E87-FC89-A436-54DA80F09017}"/>
              </a:ext>
            </a:extLst>
          </p:cNvPr>
          <p:cNvSpPr/>
          <p:nvPr/>
        </p:nvSpPr>
        <p:spPr>
          <a:xfrm>
            <a:off x="0" y="12700"/>
            <a:ext cx="12192000" cy="714383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7D84D2C2-C24E-F8FD-D31A-9A9F0E33C8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226" b="2216"/>
          <a:stretch/>
        </p:blipFill>
        <p:spPr>
          <a:xfrm>
            <a:off x="10732796" y="323936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28075CC4-B52C-EEF1-9743-64D071475389}"/>
              </a:ext>
            </a:extLst>
          </p:cNvPr>
          <p:cNvSpPr/>
          <p:nvPr/>
        </p:nvSpPr>
        <p:spPr>
          <a:xfrm>
            <a:off x="10808700" y="12700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8E4F2E-F58D-F2AE-8516-EF99775EC541}"/>
              </a:ext>
            </a:extLst>
          </p:cNvPr>
          <p:cNvSpPr/>
          <p:nvPr/>
        </p:nvSpPr>
        <p:spPr>
          <a:xfrm>
            <a:off x="2909081" y="2967335"/>
            <a:ext cx="6373860" cy="172354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66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DATA SCIENCE</a:t>
            </a:r>
          </a:p>
          <a:p>
            <a:pPr algn="ctr"/>
            <a:r>
              <a:rPr lang="en-GB" sz="3600" b="1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Project Life Cycle</a:t>
            </a:r>
          </a:p>
        </p:txBody>
      </p:sp>
    </p:spTree>
    <p:extLst>
      <p:ext uri="{BB962C8B-B14F-4D97-AF65-F5344CB8AC3E}">
        <p14:creationId xmlns:p14="http://schemas.microsoft.com/office/powerpoint/2010/main" val="1880737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56933-05B8-CC22-3DE6-8D2E085FD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A999BA5-275E-95FB-6D4D-33A70E713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A5C68B-496F-D94A-B95E-0B30BB9CE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F1617F-D654-C890-2176-DFE304A7A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A42E1A1-698D-00C1-83FF-B638727F2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F39D364C-8291-BB34-ADE3-46FDB3BEEF6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618C0B0F-B341-632D-81EE-D3FD9BB5EC46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4FCFF6-394F-8EF4-E1E9-E40816AE067D}"/>
              </a:ext>
            </a:extLst>
          </p:cNvPr>
          <p:cNvSpPr/>
          <p:nvPr/>
        </p:nvSpPr>
        <p:spPr>
          <a:xfrm>
            <a:off x="2703650" y="473991"/>
            <a:ext cx="678474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b="0" cap="none" spc="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DATA SCIENCE PROJECT LIFE CYCLE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oogle Shape;520;p70">
            <a:extLst>
              <a:ext uri="{FF2B5EF4-FFF2-40B4-BE49-F238E27FC236}">
                <a16:creationId xmlns:a16="http://schemas.microsoft.com/office/drawing/2014/main" id="{20C96676-9808-764D-1F61-D192E0312149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80575" y="1173856"/>
            <a:ext cx="8430850" cy="5058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4704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45D75-F385-DDC4-3B9C-B94B620B4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D032B23-3DAF-949C-4E87-97DD889F4B02}"/>
              </a:ext>
            </a:extLst>
          </p:cNvPr>
          <p:cNvSpPr/>
          <p:nvPr/>
        </p:nvSpPr>
        <p:spPr>
          <a:xfrm>
            <a:off x="0" y="12700"/>
            <a:ext cx="12192000" cy="714383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223761BF-DBB2-B76A-D658-B391C09F6FB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226" b="2216"/>
          <a:stretch/>
        </p:blipFill>
        <p:spPr>
          <a:xfrm>
            <a:off x="10732796" y="323936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CBDD9EAE-412B-ACB8-EAAA-5B1EFD6DF847}"/>
              </a:ext>
            </a:extLst>
          </p:cNvPr>
          <p:cNvSpPr/>
          <p:nvPr/>
        </p:nvSpPr>
        <p:spPr>
          <a:xfrm>
            <a:off x="10808700" y="12700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BBE20B-7F62-31A5-E34B-518678A18B0B}"/>
              </a:ext>
            </a:extLst>
          </p:cNvPr>
          <p:cNvSpPr/>
          <p:nvPr/>
        </p:nvSpPr>
        <p:spPr>
          <a:xfrm>
            <a:off x="3520787" y="2967335"/>
            <a:ext cx="5150449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66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SNOWPARK</a:t>
            </a:r>
          </a:p>
        </p:txBody>
      </p:sp>
    </p:spTree>
    <p:extLst>
      <p:ext uri="{BB962C8B-B14F-4D97-AF65-F5344CB8AC3E}">
        <p14:creationId xmlns:p14="http://schemas.microsoft.com/office/powerpoint/2010/main" val="3651466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3ABB7-AC35-185B-4578-FDB60CB23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151566-FAB2-4818-FBDE-B937F49FC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5AE9BC-45FF-A77B-7036-4A2049A6E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291A55-C779-2482-6350-B63DBFDAB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4E6AD8-471C-E91E-D310-8B7C147F5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49437A86-E155-4AB7-9F3A-C032BDC2FFF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15E1A8DC-6ED3-1646-0152-668E08A32DB0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2CB2CE-A54A-A3B5-D9E5-7561E54C8A28}"/>
              </a:ext>
            </a:extLst>
          </p:cNvPr>
          <p:cNvSpPr/>
          <p:nvPr/>
        </p:nvSpPr>
        <p:spPr>
          <a:xfrm>
            <a:off x="4190951" y="473991"/>
            <a:ext cx="381014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b="0" cap="none" spc="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WHAT IS SNOWPARK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D6E0CF-B0E2-0103-91B8-0037ECCB8A64}"/>
              </a:ext>
            </a:extLst>
          </p:cNvPr>
          <p:cNvSpPr txBox="1"/>
          <p:nvPr/>
        </p:nvSpPr>
        <p:spPr>
          <a:xfrm>
            <a:off x="647700" y="1472581"/>
            <a:ext cx="10299700" cy="1000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Snowflake Snowpark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is a developer framework within the Snowflake Data Cloud that allows you to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write and execute code directly inside Snowflake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using languages like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Python, Java, and Scala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not just SQL.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C2C28F-9071-0AD2-4A7B-AE4C03FBAD39}"/>
              </a:ext>
            </a:extLst>
          </p:cNvPr>
          <p:cNvSpPr txBox="1"/>
          <p:nvPr/>
        </p:nvSpPr>
        <p:spPr>
          <a:xfrm>
            <a:off x="647700" y="3030259"/>
            <a:ext cx="6146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 Components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ED2F5F-D25A-FF77-9BDD-4D710ABDF913}"/>
              </a:ext>
            </a:extLst>
          </p:cNvPr>
          <p:cNvSpPr txBox="1"/>
          <p:nvPr/>
        </p:nvSpPr>
        <p:spPr>
          <a:xfrm>
            <a:off x="647700" y="3539987"/>
            <a:ext cx="5623845" cy="2478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Snowpark API</a:t>
            </a:r>
            <a:endParaRPr lang="en-IN" sz="160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Snowpark DataFrame</a:t>
            </a:r>
            <a:endParaRPr lang="en-IN" sz="160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User-Defined Functions (UDFs)</a:t>
            </a:r>
            <a:r>
              <a:rPr lang="en-IN" sz="16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and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Stored Procedures</a:t>
            </a:r>
            <a:endParaRPr lang="en-IN" sz="160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200000"/>
              </a:lnSpc>
              <a:buFont typeface="+mj-lt"/>
              <a:buAutoNum type="arabicPeriod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Snowpark for Python + Anaconda Integration</a:t>
            </a:r>
            <a:endParaRPr lang="en-IN" sz="160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37DB5F0-E18A-CE0C-A7B0-29CA5CB28E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725" y="2948738"/>
            <a:ext cx="5308135" cy="316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099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018D0-0752-2D8E-ECCF-4B7219523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FABC40E-D699-8CAB-CC48-D8CD3162B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7845F3-C477-F708-744F-41D70FCF0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3E3971-DA79-D3B4-5D17-AEDF92222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57675A-0DE8-0CA8-FDA6-EC49BB772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B84A93D2-54E9-7842-1256-1E1418401AA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E9F5CB24-EE0E-2ABA-39AA-DA27A7068876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3CFD94-E995-6C26-66C4-25061CC5CDAF}"/>
              </a:ext>
            </a:extLst>
          </p:cNvPr>
          <p:cNvSpPr/>
          <p:nvPr/>
        </p:nvSpPr>
        <p:spPr>
          <a:xfrm>
            <a:off x="3230240" y="473991"/>
            <a:ext cx="573156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b="0" cap="none" spc="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SNOWPARK KEY COMPONENTS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AA1064-863C-32AD-FF5A-74D7E242949B}"/>
              </a:ext>
            </a:extLst>
          </p:cNvPr>
          <p:cNvSpPr txBox="1"/>
          <p:nvPr/>
        </p:nvSpPr>
        <p:spPr>
          <a:xfrm>
            <a:off x="398690" y="1015367"/>
            <a:ext cx="11394620" cy="5217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Snowpark API</a:t>
            </a:r>
            <a:endParaRPr lang="en-IN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lnSpc>
                <a:spcPct val="150000"/>
              </a:lnSpc>
              <a:buFont typeface="+mj-lt"/>
              <a:buAutoNum type="arabicPeriod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Available in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Java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and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Scala</a:t>
            </a:r>
            <a:r>
              <a:rPr lang="en-IN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</a:p>
          <a:p>
            <a:pPr marL="742950" lvl="1" indent="-285750" algn="l">
              <a:lnSpc>
                <a:spcPct val="150000"/>
              </a:lnSpc>
              <a:buFont typeface="+mj-lt"/>
              <a:buAutoNum type="arabicPeriod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Lets you define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DataFrames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transformations, and UDFs (user-defined functions).</a:t>
            </a:r>
          </a:p>
          <a:p>
            <a:pPr marL="742950" lvl="1" indent="-285750" algn="l">
              <a:lnSpc>
                <a:spcPct val="150000"/>
              </a:lnSpc>
              <a:buFont typeface="+mj-lt"/>
              <a:buAutoNum type="arabicPeriod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 You can write Python code to manipulate tables, filter data, and apply logic — similar to Pandas and Spark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Snowpark DataFrame</a:t>
            </a:r>
            <a:endParaRPr lang="en-IN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lnSpc>
                <a:spcPct val="150000"/>
              </a:lnSpc>
              <a:buFont typeface="+mj-lt"/>
              <a:buAutoNum type="arabicPeriod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Similar to pandas DataFrames, but operations are lazily executed and compiled into SQL that runs inside Snowflake. . </a:t>
            </a:r>
          </a:p>
          <a:p>
            <a:pPr marL="742950" lvl="1" indent="-285750" algn="l">
              <a:lnSpc>
                <a:spcPct val="150000"/>
              </a:lnSpc>
              <a:buFont typeface="+mj-lt"/>
              <a:buAutoNum type="arabicPeriod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You can join, aggregate, and transform data in a Pythonic or JVM-native way.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User-Defined Functions (UDFs)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and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Stored Procedures</a:t>
            </a:r>
            <a:endParaRPr lang="en-IN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lnSpc>
                <a:spcPct val="150000"/>
              </a:lnSpc>
              <a:buFont typeface="+mj-lt"/>
              <a:buAutoNum type="arabicPeriod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Write custom business logic in Python/Java/Scala and execute it in Snowflake.</a:t>
            </a:r>
          </a:p>
          <a:p>
            <a:pPr marL="742950" lvl="1" indent="-285750" algn="l">
              <a:lnSpc>
                <a:spcPct val="150000"/>
              </a:lnSpc>
              <a:buFont typeface="+mj-lt"/>
              <a:buAutoNum type="arabicPeriod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 a Python function that performs sentiment analysis or complex calculations can be registered as a UDF.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Snowpark for Python + Anaconda Integration</a:t>
            </a:r>
            <a:endParaRPr lang="en-IN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lnSpc>
                <a:spcPct val="150000"/>
              </a:lnSpc>
              <a:buFont typeface="+mj-lt"/>
              <a:buAutoNum type="arabicPeriod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Provides access to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Anaconda’s data science libraries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(like NumPy, pandas, scikit-learn) securely inside Snowflake — no need to install dependencies manually.</a:t>
            </a:r>
          </a:p>
        </p:txBody>
      </p:sp>
    </p:spTree>
    <p:extLst>
      <p:ext uri="{BB962C8B-B14F-4D97-AF65-F5344CB8AC3E}">
        <p14:creationId xmlns:p14="http://schemas.microsoft.com/office/powerpoint/2010/main" val="1799076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24BF7-A8E4-53B9-1EE9-251918DE6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61F9EB7-5710-29D4-E2D7-65EC69982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74E361-3784-8D11-0684-A5A8C4EBB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C30195-2B58-6D91-A3C2-77A706CCA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5E80F8-EA1F-AA19-37CF-FE0526749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4C77FAB7-284E-C1D0-1D7B-95E43F7F6A2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D127E33A-529F-E780-8E5F-67974EAEFD2C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6F0DF9-1636-AD44-300C-5B4369965F04}"/>
              </a:ext>
            </a:extLst>
          </p:cNvPr>
          <p:cNvSpPr/>
          <p:nvPr/>
        </p:nvSpPr>
        <p:spPr>
          <a:xfrm>
            <a:off x="4642744" y="473991"/>
            <a:ext cx="290656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b="0" cap="none" spc="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SNOWPARK </a:t>
            </a:r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09C195-727E-2C32-B666-E6739C9E3DA3}"/>
              </a:ext>
            </a:extLst>
          </p:cNvPr>
          <p:cNvSpPr txBox="1"/>
          <p:nvPr/>
        </p:nvSpPr>
        <p:spPr>
          <a:xfrm>
            <a:off x="479880" y="2145862"/>
            <a:ext cx="5514520" cy="346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The 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Snowpark DataFrame API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is the core programming interface of Snowpark that lets you 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work with data in Snowflake using familiar DataFrame-style syntax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— similar to pandas (Python) or Spark.</a:t>
            </a:r>
          </a:p>
          <a:p>
            <a:pPr>
              <a:lnSpc>
                <a:spcPct val="200000"/>
              </a:lnSpc>
            </a:pP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It provides a 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lazy, distributed, SQL-backed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abstraction for working with structured data.</a:t>
            </a:r>
            <a:endParaRPr lang="en-IN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ML on Snowflake at scale with Snowpark (Part-2) | by Simran Khara |  Snowflake Builders Blog: Data Engineers, App Developers, AI, &amp; Data Science  | Medium">
            <a:extLst>
              <a:ext uri="{FF2B5EF4-FFF2-40B4-BE49-F238E27FC236}">
                <a16:creationId xmlns:a16="http://schemas.microsoft.com/office/drawing/2014/main" id="{7DD37BC8-4C3C-F02F-C217-18C5F004CD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73"/>
          <a:stretch>
            <a:fillRect/>
          </a:stretch>
        </p:blipFill>
        <p:spPr bwMode="auto">
          <a:xfrm>
            <a:off x="5994400" y="1964567"/>
            <a:ext cx="5595484" cy="3825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2797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9F1FF-CFC9-BD7F-7CF7-4602CAEFF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728905D-6D22-74C8-5274-7730CCB55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D97ED4-415D-6688-F590-F2C14A8EF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C68C3E-B579-6F2D-7BDB-8F05BF491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F8F73EA-60B4-93B0-8425-DE0DDF36D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BEF915D5-C39C-6A4D-4A58-09BCEF86E79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572F3D71-9C77-AC0F-2834-335EABE726DB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D738EB-837F-916D-ABA5-5BCA480E59EE}"/>
              </a:ext>
            </a:extLst>
          </p:cNvPr>
          <p:cNvSpPr/>
          <p:nvPr/>
        </p:nvSpPr>
        <p:spPr>
          <a:xfrm>
            <a:off x="4577831" y="473991"/>
            <a:ext cx="303640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b="0" cap="none" spc="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SNOWFLAKE ML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4AEF66-9D84-4B70-7878-6693EE09A7A2}"/>
              </a:ext>
            </a:extLst>
          </p:cNvPr>
          <p:cNvSpPr txBox="1"/>
          <p:nvPr/>
        </p:nvSpPr>
        <p:spPr>
          <a:xfrm>
            <a:off x="398690" y="1015367"/>
            <a:ext cx="11394620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endParaRPr lang="en-IN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039F7A-8F04-6951-6CA0-7DA1F15D7C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2169" y="2619640"/>
            <a:ext cx="5571141" cy="2702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24D437-60AB-6413-BA50-62EF92B5F8D1}"/>
              </a:ext>
            </a:extLst>
          </p:cNvPr>
          <p:cNvSpPr txBox="1"/>
          <p:nvPr/>
        </p:nvSpPr>
        <p:spPr>
          <a:xfrm>
            <a:off x="427113" y="1387789"/>
            <a:ext cx="5762738" cy="5217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Snowflake now provides a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complete, end-to-end Machine Learning (ML) workflow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directly </a:t>
            </a:r>
            <a:r>
              <a:rPr lang="en-IN" sz="16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inside the Data Cloud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includes: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 Engineering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– preparing and transforming data for ML.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Snowpark ML Modelling Library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– training, evaluating, and deploying models in Snowflake.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 Store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– managing, sharing, and reusing ML features.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 Registry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– storing, versioning, and deploying trained models securely.</a:t>
            </a:r>
          </a:p>
          <a:p>
            <a:pPr algn="l">
              <a:lnSpc>
                <a:spcPct val="150000"/>
              </a:lnSpc>
            </a:pPr>
            <a:endParaRPr lang="en-IN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All of these run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inside Snowflake’s compute layer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eliminating the need to move data out for ML development.</a:t>
            </a:r>
          </a:p>
        </p:txBody>
      </p:sp>
    </p:spTree>
    <p:extLst>
      <p:ext uri="{BB962C8B-B14F-4D97-AF65-F5344CB8AC3E}">
        <p14:creationId xmlns:p14="http://schemas.microsoft.com/office/powerpoint/2010/main" val="3267769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C2A8C-73BE-8BDD-F2EF-11F699CA5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4AA8D3F-1A7A-26EB-A321-D736D4BC0CF0}"/>
              </a:ext>
            </a:extLst>
          </p:cNvPr>
          <p:cNvSpPr/>
          <p:nvPr/>
        </p:nvSpPr>
        <p:spPr>
          <a:xfrm>
            <a:off x="0" y="12700"/>
            <a:ext cx="12192000" cy="714383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790F7639-ED85-6E67-69CB-84D02D4D50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226" b="2216"/>
          <a:stretch/>
        </p:blipFill>
        <p:spPr>
          <a:xfrm>
            <a:off x="10732796" y="323936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5BAD2969-1CAE-0A2A-F3C8-3FCC391B801E}"/>
              </a:ext>
            </a:extLst>
          </p:cNvPr>
          <p:cNvSpPr/>
          <p:nvPr/>
        </p:nvSpPr>
        <p:spPr>
          <a:xfrm>
            <a:off x="10808700" y="12700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348891-7941-9F83-F65A-67D7CC5166CC}"/>
              </a:ext>
            </a:extLst>
          </p:cNvPr>
          <p:cNvSpPr/>
          <p:nvPr/>
        </p:nvSpPr>
        <p:spPr>
          <a:xfrm>
            <a:off x="313365" y="2678407"/>
            <a:ext cx="11341100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66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FEATURE </a:t>
            </a:r>
          </a:p>
          <a:p>
            <a:pPr algn="ctr"/>
            <a:r>
              <a:rPr lang="en-GB" sz="66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</a:p>
        </p:txBody>
      </p:sp>
    </p:spTree>
    <p:extLst>
      <p:ext uri="{BB962C8B-B14F-4D97-AF65-F5344CB8AC3E}">
        <p14:creationId xmlns:p14="http://schemas.microsoft.com/office/powerpoint/2010/main" val="2892769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67D9E-B1BE-D8A2-7CF7-9E87FBB10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BB873A-102F-CA88-7D79-097DA775E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CC529A-A204-E73F-519F-BA780DD34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5C417D-A42E-167A-E439-72247B8A1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162C4E-A8C1-7FC9-C70A-4859AAA93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643F7F2A-CE43-6805-0AA8-3901FF25316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DE99624F-242B-37DB-9ED8-76166442BDA9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C09E7C-50F7-D370-1FFA-3CC4DB3F2279}"/>
              </a:ext>
            </a:extLst>
          </p:cNvPr>
          <p:cNvSpPr/>
          <p:nvPr/>
        </p:nvSpPr>
        <p:spPr>
          <a:xfrm>
            <a:off x="3873818" y="473991"/>
            <a:ext cx="444442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b="0" cap="none" spc="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FEATURE ENGINEERING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CCE4BC-1D07-C182-20AE-6B15368CFA03}"/>
              </a:ext>
            </a:extLst>
          </p:cNvPr>
          <p:cNvSpPr txBox="1"/>
          <p:nvPr/>
        </p:nvSpPr>
        <p:spPr>
          <a:xfrm>
            <a:off x="417740" y="1203734"/>
            <a:ext cx="11407320" cy="78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 Engineering with Snowpark</a:t>
            </a:r>
          </a:p>
          <a:p>
            <a:pPr algn="l">
              <a:lnSpc>
                <a:spcPct val="150000"/>
              </a:lnSpc>
              <a:buNone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Purpose: 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Transform raw data into meaningful, reusable features for ML models — entirely inside Snowflake.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935BB0-ECF9-884B-FC9F-89B452AEFA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5901" y="2617006"/>
            <a:ext cx="4239419" cy="25190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22CC31E-F27A-8A13-E835-C9F865DFE990}"/>
              </a:ext>
            </a:extLst>
          </p:cNvPr>
          <p:cNvSpPr txBox="1"/>
          <p:nvPr/>
        </p:nvSpPr>
        <p:spPr>
          <a:xfrm>
            <a:off x="378280" y="2142247"/>
            <a:ext cx="7334549" cy="3001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Preparation using Snowpark DataFrame API</a:t>
            </a:r>
            <a:r>
              <a:rPr lang="en-IN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Filter, join, aggregate, and normalize data at scale using Python, Scala, or SQL.</a:t>
            </a:r>
            <a:endParaRPr lang="en-IN" sz="16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Built-in ML Transformations : </a:t>
            </a:r>
            <a:r>
              <a:rPr lang="en-IN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Snowpark ML provides transformers for scaling, encoding, and imputing (similar to scikit-learn pipelines).</a:t>
            </a:r>
            <a:endParaRPr lang="en-IN" sz="16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In-Database Execution : 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Transformations execute where the data lives — no data export.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Reusable Feature Pipelines: 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Define pipelines once and reuse them for training and inference.</a:t>
            </a:r>
          </a:p>
        </p:txBody>
      </p:sp>
    </p:spTree>
    <p:extLst>
      <p:ext uri="{BB962C8B-B14F-4D97-AF65-F5344CB8AC3E}">
        <p14:creationId xmlns:p14="http://schemas.microsoft.com/office/powerpoint/2010/main" val="3647970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91772-198B-1DB8-A34B-ADBF3D6C2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F90C2B3-F172-FD44-A4A8-CE7891557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1568BF-DC53-9384-6A72-80755EA00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D39940-5C51-BE6D-D71B-C52164565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BFCCE8-ADEB-A5CA-91EE-B6230F8B0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42250FC2-B15B-FCCD-40F7-2C2AAD466F1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78427BA9-7C34-73EB-1BA1-2A9E98E39F5F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F968D7-ADD2-81F1-272E-21F74F8CB01E}"/>
              </a:ext>
            </a:extLst>
          </p:cNvPr>
          <p:cNvSpPr/>
          <p:nvPr/>
        </p:nvSpPr>
        <p:spPr>
          <a:xfrm>
            <a:off x="3570344" y="473991"/>
            <a:ext cx="505138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SNOWPARK ML MODELLING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0C10A5-EC54-B579-1CF1-9FB3CBC7AC84}"/>
              </a:ext>
            </a:extLst>
          </p:cNvPr>
          <p:cNvSpPr txBox="1"/>
          <p:nvPr/>
        </p:nvSpPr>
        <p:spPr>
          <a:xfrm>
            <a:off x="417740" y="1203734"/>
            <a:ext cx="11407320" cy="3001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Provides 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native machine learning algorithms and utilities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for model training, evaluation, and inference 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inside Snowflake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Key Features: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Built-in ML algorithms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: Regression, classification, clustering, time series, etc.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Training inside Snowflake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using 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snowflake.ml.modeling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module.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Integration with Snowpark DataFrames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for seamless data access.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Compatible with popular frameworks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— export/import models from scikit-learn,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, TensorFlow, etc.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Distributed Training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using Snowflake compute clusters for scalability.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5C0204-D8DB-2B98-DA32-94E951EEFF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450" y="4411591"/>
            <a:ext cx="72136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516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9D3C5-1434-2C44-9256-57D5E6983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0D7EFC7-98F7-42FA-C591-8A3DCBF97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9033D4-E78E-E998-7E56-B38058AC9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CA8B2D-BF46-3129-2FF8-1A42DFEE4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CB4C24-86FF-2CFF-993B-135D5D926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8B237C31-24DB-E4EC-F235-9D8A7E33624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03A8EFDF-FA2C-3CA9-BBFE-F23E8B92BCDF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779F9F-AB3F-1A64-C80C-83DF9BE1AE14}"/>
              </a:ext>
            </a:extLst>
          </p:cNvPr>
          <p:cNvSpPr/>
          <p:nvPr/>
        </p:nvSpPr>
        <p:spPr>
          <a:xfrm>
            <a:off x="3873818" y="473991"/>
            <a:ext cx="444442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b="0" cap="none" spc="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FEATURE ENGINEERING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838A9B-3015-D2EA-4ABD-73418B5F4C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140" t="16509" r="5998"/>
          <a:stretch>
            <a:fillRect/>
          </a:stretch>
        </p:blipFill>
        <p:spPr>
          <a:xfrm>
            <a:off x="378280" y="934228"/>
            <a:ext cx="9906151" cy="564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345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5880D-D9C2-8B5D-747E-DE854629B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D695139-C203-8535-1639-80F6160D812B}"/>
              </a:ext>
            </a:extLst>
          </p:cNvPr>
          <p:cNvSpPr/>
          <p:nvPr/>
        </p:nvSpPr>
        <p:spPr>
          <a:xfrm>
            <a:off x="0" y="-142918"/>
            <a:ext cx="12192000" cy="714383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0F4C5615-537C-D1E7-45C0-4E7750E2AC4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226" b="2216"/>
          <a:stretch/>
        </p:blipFill>
        <p:spPr>
          <a:xfrm>
            <a:off x="10732796" y="323936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0016D423-4E0B-74A5-13DC-3940D93166BB}"/>
              </a:ext>
            </a:extLst>
          </p:cNvPr>
          <p:cNvSpPr/>
          <p:nvPr/>
        </p:nvSpPr>
        <p:spPr>
          <a:xfrm>
            <a:off x="10808700" y="12700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0EEC51-5FCD-8457-8346-38FADD008F39}"/>
              </a:ext>
            </a:extLst>
          </p:cNvPr>
          <p:cNvSpPr/>
          <p:nvPr/>
        </p:nvSpPr>
        <p:spPr>
          <a:xfrm>
            <a:off x="313365" y="2678407"/>
            <a:ext cx="11341100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66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FEATURE STORE</a:t>
            </a:r>
          </a:p>
        </p:txBody>
      </p:sp>
    </p:spTree>
    <p:extLst>
      <p:ext uri="{BB962C8B-B14F-4D97-AF65-F5344CB8AC3E}">
        <p14:creationId xmlns:p14="http://schemas.microsoft.com/office/powerpoint/2010/main" val="2582486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8E606-8A25-4D70-8653-143B3DFD4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5AD0A1-60AC-8D68-7858-272FD78E9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CCEA61-F700-788C-90C8-B76D229FE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EF1406-83AB-2BA8-C8F5-C915AD0E16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9A314D2-01A0-2799-F919-DD96D4076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A8400CA7-FCDE-04BD-3E76-63D01118BC8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A3921684-0D4C-A0D0-FA2B-BC344B128BCC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FB9D5D-A5EF-23CA-8A68-9204C9B005B9}"/>
              </a:ext>
            </a:extLst>
          </p:cNvPr>
          <p:cNvSpPr/>
          <p:nvPr/>
        </p:nvSpPr>
        <p:spPr>
          <a:xfrm>
            <a:off x="4515059" y="473991"/>
            <a:ext cx="316195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FEATURE STORE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96060F-F144-67BB-4EB6-0BF0B16297A6}"/>
              </a:ext>
            </a:extLst>
          </p:cNvPr>
          <p:cNvSpPr txBox="1"/>
          <p:nvPr/>
        </p:nvSpPr>
        <p:spPr>
          <a:xfrm>
            <a:off x="620830" y="4574700"/>
            <a:ext cx="10369691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CFF796-91EB-1AD8-9E72-AA58A7A60D9C}"/>
              </a:ext>
            </a:extLst>
          </p:cNvPr>
          <p:cNvSpPr txBox="1"/>
          <p:nvPr/>
        </p:nvSpPr>
        <p:spPr>
          <a:xfrm>
            <a:off x="620829" y="1148950"/>
            <a:ext cx="10369691" cy="152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 Store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in Snowflake is a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centralized platform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that lets data scientists and ML engineers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define, manage, and reuse ML features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directly within Snowflake. It integrates seamlessly with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Snowpark ML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enabling consistent, production-grade feature engineering and serving without data movement.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80D991-E9D8-503D-12BA-7FBA51DB2E3B}"/>
              </a:ext>
            </a:extLst>
          </p:cNvPr>
          <p:cNvSpPr txBox="1"/>
          <p:nvPr/>
        </p:nvSpPr>
        <p:spPr>
          <a:xfrm>
            <a:off x="620829" y="2305471"/>
            <a:ext cx="11213206" cy="4109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Centralized Feature Management</a:t>
            </a:r>
            <a:b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All ML features are defined, versioned, and catalogued in one place — ensuring teams can discover and reuse features efficiently.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Consistency Between Training and Inference</a:t>
            </a:r>
            <a:b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Features used for model training and real-time inference come from the same definitions, eliminating training-serving skew.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Seamless Integration with Snowpark &amp; Feature Engineering</a:t>
            </a:r>
            <a:b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You can use Snowpark DataFrame APIs or SQL to build features, join datasets, and register them in the store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Governance, Lineage, and Reusability</a:t>
            </a:r>
            <a:b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Each feature has metadata (source tables, transformation logic, owners, versions), improving explainability, compliance, and collaboration.</a:t>
            </a:r>
          </a:p>
        </p:txBody>
      </p:sp>
    </p:spTree>
    <p:extLst>
      <p:ext uri="{BB962C8B-B14F-4D97-AF65-F5344CB8AC3E}">
        <p14:creationId xmlns:p14="http://schemas.microsoft.com/office/powerpoint/2010/main" val="1323578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A09DA-7F93-1AC5-D118-A63019EB1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96DDA46-D8C1-98FB-98DE-703D584CC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5328D8-4A24-CFCB-98CB-DAC642E5F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A9877D-8B74-1D54-8D5F-49DCE2D04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674D6D-0F0A-6BEE-60D8-733496E3E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AE689772-CE88-FD94-0C7B-3E2CAC32954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47B7817C-C5EB-B752-937C-100CAA9D1C13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74A452-40DB-9D36-8D53-AF6CF4C0B56F}"/>
              </a:ext>
            </a:extLst>
          </p:cNvPr>
          <p:cNvSpPr/>
          <p:nvPr/>
        </p:nvSpPr>
        <p:spPr>
          <a:xfrm>
            <a:off x="4515059" y="473991"/>
            <a:ext cx="316195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FEATURE STORE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01AACE-90BB-4B88-4114-E8724D39BEF8}"/>
              </a:ext>
            </a:extLst>
          </p:cNvPr>
          <p:cNvSpPr txBox="1"/>
          <p:nvPr/>
        </p:nvSpPr>
        <p:spPr>
          <a:xfrm>
            <a:off x="496783" y="1173856"/>
            <a:ext cx="10617783" cy="4847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 </a:t>
            </a:r>
            <a:r>
              <a:rPr lang="en-IN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eature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is simply a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derived data attribute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used as an input to an ML model.</a:t>
            </a:r>
            <a:b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avg_transaction_amount_30d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loan_to_value_ratio</a:t>
            </a:r>
            <a:endParaRPr lang="en-IN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Views</a:t>
            </a:r>
            <a:r>
              <a:rPr lang="en-IN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are how you logically group and manage multiple related features inside the </a:t>
            </a:r>
            <a:r>
              <a:rPr lang="en-IN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Snowflake Feature Store.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(usually derived from the same source table or entity).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 </a:t>
            </a:r>
            <a:r>
              <a:rPr lang="en-IN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Snowflake Feature Store</a:t>
            </a:r>
            <a:r>
              <a:rPr lang="en-IN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Entities</a:t>
            </a:r>
            <a:r>
              <a:rPr lang="en-IN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represent </a:t>
            </a:r>
            <a:r>
              <a:rPr lang="en-IN" sz="16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key business objects</a:t>
            </a:r>
            <a:r>
              <a:rPr lang="en-IN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(like CUSTOMER_ID, ACCOUNT_ID, or LOAN_ID)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Views</a:t>
            </a:r>
            <a:r>
              <a:rPr lang="en-IN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represent </a:t>
            </a:r>
            <a:r>
              <a:rPr lang="en-IN" sz="16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group of features</a:t>
            </a:r>
            <a:r>
              <a:rPr lang="en-IN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derived </a:t>
            </a:r>
            <a:r>
              <a:rPr lang="en-IN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IN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those entities.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So, a </a:t>
            </a:r>
            <a:r>
              <a:rPr lang="en-IN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View is always related to one or more Feature Entities</a:t>
            </a:r>
            <a:r>
              <a:rPr lang="en-IN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IN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relationship ensures that features are correctly </a:t>
            </a:r>
            <a:r>
              <a:rPr lang="en-IN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joined, stored, and retrieved</a:t>
            </a:r>
            <a:r>
              <a:rPr lang="en-IN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for the right business key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399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76C72-FA42-CFC0-23F0-B38668198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840F68B-6355-CAE0-1BD7-AE85F6CB0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CB840B-F0B9-597C-04E1-F76E2C20D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C75642-27DD-E451-5EF5-9C23547A3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DC2D55-FC2B-444A-5812-DFB27F6B6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15B2C511-CD5A-E1E6-DAEF-83852E14BEC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5BBC6CEA-5FA0-025F-AFA5-4522B2A7CE68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133C73-205A-38C3-C650-6D7594FC0F04}"/>
              </a:ext>
            </a:extLst>
          </p:cNvPr>
          <p:cNvSpPr/>
          <p:nvPr/>
        </p:nvSpPr>
        <p:spPr>
          <a:xfrm>
            <a:off x="4515059" y="473991"/>
            <a:ext cx="316195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FEATURE STORE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D7BE15-BE63-757E-269D-10DDE123ADA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843"/>
          <a:stretch>
            <a:fillRect/>
          </a:stretch>
        </p:blipFill>
        <p:spPr>
          <a:xfrm>
            <a:off x="409234" y="1069472"/>
            <a:ext cx="6719798" cy="280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797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DCADA-1453-32F4-5010-1A8EE3DA5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9BD730-011F-D4CC-347E-93D830847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860F2A-35BA-7FD0-A767-6151E2626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6A5E9F-AA39-58E0-6510-906D2CA58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CCFE887-5E2B-385B-FA0E-FB7460FA2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37BC67C8-CF85-362B-DE1B-7BF558A9A33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713C33C1-B510-92D2-346B-7A693EEE08A7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EC9814-1EC0-7E07-6A39-6CC63A5DCE8A}"/>
              </a:ext>
            </a:extLst>
          </p:cNvPr>
          <p:cNvSpPr/>
          <p:nvPr/>
        </p:nvSpPr>
        <p:spPr>
          <a:xfrm>
            <a:off x="3717566" y="473991"/>
            <a:ext cx="475694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FEATURE STORE - ENTITY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EEE3A8-31CA-8356-0231-E37D25E2262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775"/>
          <a:stretch>
            <a:fillRect/>
          </a:stretch>
        </p:blipFill>
        <p:spPr>
          <a:xfrm>
            <a:off x="292100" y="1141633"/>
            <a:ext cx="7178410" cy="300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755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892C8-6222-6A4A-6B72-2810690E3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CB8393-25F0-0223-3AB6-43C956EA2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E4FFB1-5696-10B8-7D2B-D2D1B68CC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252ACA-D542-540F-0292-98EE96003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5B5290-A456-6538-1A0B-FF675E384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CA78CC89-E492-AF72-D3D6-C16B4B3242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F92CCBE4-8FCA-B67A-57B1-770EB6539DCC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514C2B-DC24-B394-6E1A-3655B201013F}"/>
              </a:ext>
            </a:extLst>
          </p:cNvPr>
          <p:cNvSpPr/>
          <p:nvPr/>
        </p:nvSpPr>
        <p:spPr>
          <a:xfrm>
            <a:off x="2983906" y="473991"/>
            <a:ext cx="622426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FEATURE STORE – FEATURE VIEW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FE80FA-9599-1EDF-0935-48795DFDA3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979" y="1237356"/>
            <a:ext cx="9322499" cy="534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859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F7AE9-4D6C-DC58-6B6A-55C4154AA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6F1500-F24C-4961-5D1B-C3E2A9BBF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F22C4A-C50E-DB94-943E-9EAACF518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6E38B9-BE1A-7B67-4CEE-564AA9006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31A8B5-C5E8-3563-C9A3-A35F14C39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F8CE4056-A772-1948-95B3-CF78F51322E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2BFE3307-3746-FA24-D3AA-A4E83F3353FC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80A80C-0D1B-96C8-8D35-0D2F158F61EF}"/>
              </a:ext>
            </a:extLst>
          </p:cNvPr>
          <p:cNvSpPr/>
          <p:nvPr/>
        </p:nvSpPr>
        <p:spPr>
          <a:xfrm>
            <a:off x="2532085" y="473991"/>
            <a:ext cx="712791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FEATURE STORE - GENERATE DATASET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97C931-9855-E9EC-064A-982D0D461EA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564"/>
          <a:stretch>
            <a:fillRect/>
          </a:stretch>
        </p:blipFill>
        <p:spPr>
          <a:xfrm>
            <a:off x="305799" y="1189864"/>
            <a:ext cx="9157367" cy="223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182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22BCE-394C-11B7-416F-CF9532D03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F4445F9-2B7A-7777-05CE-13365F44E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B7149A-42B4-4441-7423-3E27E9D72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EAE9E5-6A90-AB5A-C494-E8B6A33AA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D0323F-C160-80B0-5C12-F8A811D7C5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4995C012-0E16-0F38-8C6C-CF167B27889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AFA42CA7-1DBF-35D5-8A5E-EAECFB76127A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18EDD0-B423-966E-D68F-3DCA19DCEC5D}"/>
              </a:ext>
            </a:extLst>
          </p:cNvPr>
          <p:cNvSpPr/>
          <p:nvPr/>
        </p:nvSpPr>
        <p:spPr>
          <a:xfrm>
            <a:off x="3249491" y="473991"/>
            <a:ext cx="569309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FEATURE STORE - SNOWSIGHT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5A4A9D-96A1-C88B-BA87-091E10306E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160" y="1316261"/>
            <a:ext cx="8679656" cy="32982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AFEC38-2954-1A9F-D263-10A90F1367CF}"/>
              </a:ext>
            </a:extLst>
          </p:cNvPr>
          <p:cNvSpPr txBox="1"/>
          <p:nvPr/>
        </p:nvSpPr>
        <p:spPr>
          <a:xfrm>
            <a:off x="536160" y="4748914"/>
            <a:ext cx="7351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Note</a:t>
            </a:r>
            <a:r>
              <a:rPr lang="en-US" dirty="0"/>
              <a:t>: for every feature view, </a:t>
            </a:r>
            <a:r>
              <a:rPr lang="en-US" b="1" dirty="0"/>
              <a:t>dynamic table created in the database schema</a:t>
            </a:r>
          </a:p>
        </p:txBody>
      </p:sp>
    </p:spTree>
    <p:extLst>
      <p:ext uri="{BB962C8B-B14F-4D97-AF65-F5344CB8AC3E}">
        <p14:creationId xmlns:p14="http://schemas.microsoft.com/office/powerpoint/2010/main" val="1324454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73840-5B3E-B06E-E367-6912A1FAA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E813EF-C20C-34CF-26CE-32B26FB06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E34699-8ACD-3C44-D736-C7C9C9567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F160A9-A9F9-0ADB-D67B-93496A38F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73A736-374F-D20C-C618-C14A6C7DE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80B326BA-E9EC-73C3-05E2-ED769C6DFD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DCF39640-9A4A-0CD3-243F-468A94394932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65071E-70FC-B1AD-F097-DF34EEB0D4E3}"/>
              </a:ext>
            </a:extLst>
          </p:cNvPr>
          <p:cNvSpPr/>
          <p:nvPr/>
        </p:nvSpPr>
        <p:spPr>
          <a:xfrm>
            <a:off x="4515059" y="473991"/>
            <a:ext cx="316195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FEATURE STORE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Overall architecture of Snowflake Feature Store">
            <a:extLst>
              <a:ext uri="{FF2B5EF4-FFF2-40B4-BE49-F238E27FC236}">
                <a16:creationId xmlns:a16="http://schemas.microsoft.com/office/drawing/2014/main" id="{BCD88066-2086-5C2A-B660-EDACE3F94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217" y="1308100"/>
            <a:ext cx="11065565" cy="424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005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4F632-1C69-4E31-5115-FBD782109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E32A9C0-6664-9105-D200-F5DCE030CFB4}"/>
              </a:ext>
            </a:extLst>
          </p:cNvPr>
          <p:cNvSpPr/>
          <p:nvPr/>
        </p:nvSpPr>
        <p:spPr>
          <a:xfrm>
            <a:off x="0" y="12700"/>
            <a:ext cx="12192000" cy="714383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CD49D562-8759-A6F9-F41E-85BCD746EF5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226" b="2216"/>
          <a:stretch/>
        </p:blipFill>
        <p:spPr>
          <a:xfrm>
            <a:off x="10732796" y="323936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AE824F07-FF3A-9A8C-1185-4C7FA2EAD79D}"/>
              </a:ext>
            </a:extLst>
          </p:cNvPr>
          <p:cNvSpPr/>
          <p:nvPr/>
        </p:nvSpPr>
        <p:spPr>
          <a:xfrm>
            <a:off x="10808700" y="12700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C4CFDF-50C6-1C35-9684-0B5E3FBD212A}"/>
              </a:ext>
            </a:extLst>
          </p:cNvPr>
          <p:cNvSpPr/>
          <p:nvPr/>
        </p:nvSpPr>
        <p:spPr>
          <a:xfrm>
            <a:off x="313365" y="2678407"/>
            <a:ext cx="11341100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66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</a:p>
          <a:p>
            <a:pPr algn="ctr"/>
            <a:r>
              <a:rPr lang="en-GB" sz="66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DEVELOPMENT</a:t>
            </a:r>
          </a:p>
        </p:txBody>
      </p:sp>
    </p:spTree>
    <p:extLst>
      <p:ext uri="{BB962C8B-B14F-4D97-AF65-F5344CB8AC3E}">
        <p14:creationId xmlns:p14="http://schemas.microsoft.com/office/powerpoint/2010/main" val="4155392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FDBA0-26F9-FDF6-FD3D-8B22C2604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95B9E3F-E291-E41B-CD26-8786BE97B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2191AB-E9C0-4B23-2430-23ABF367E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4C368D-0029-731A-73AF-4A8E0353A9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F05CA8-58E7-D38C-AC26-D6A80A899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B21BD7F0-FF7A-A804-E5FF-B048D745A8F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58251CCE-8226-B84A-547B-3C139393F953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ECCF7E-2C7C-0829-3281-D3B2F0E2EC89}"/>
              </a:ext>
            </a:extLst>
          </p:cNvPr>
          <p:cNvSpPr/>
          <p:nvPr/>
        </p:nvSpPr>
        <p:spPr>
          <a:xfrm>
            <a:off x="3919288" y="473991"/>
            <a:ext cx="435349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MODEL DEVELOPMENT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0A2BC7-115F-C28E-83C6-227C14DF8592}"/>
              </a:ext>
            </a:extLst>
          </p:cNvPr>
          <p:cNvSpPr txBox="1"/>
          <p:nvPr/>
        </p:nvSpPr>
        <p:spPr>
          <a:xfrm>
            <a:off x="292100" y="1720657"/>
            <a:ext cx="11623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u="none" strike="noStrike" dirty="0">
                <a:solidFill>
                  <a:schemeClr val="accent6"/>
                </a:solidFill>
                <a:effectLst/>
                <a:latin typeface="-webkit-standard"/>
              </a:rPr>
              <a:t>Feature Engineering </a:t>
            </a:r>
            <a:r>
              <a:rPr lang="en-IN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→ Model Training → Model Evaluation → Model Validation 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→ Model Registration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8A1BA1-93A8-ACE4-4133-B2F7C4A74B89}"/>
              </a:ext>
            </a:extLst>
          </p:cNvPr>
          <p:cNvSpPr txBox="1"/>
          <p:nvPr/>
        </p:nvSpPr>
        <p:spPr>
          <a:xfrm>
            <a:off x="292100" y="1351325"/>
            <a:ext cx="2464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ML Development Flow</a:t>
            </a:r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B6E0A8-AD7E-7835-096F-DFD5986F2779}"/>
              </a:ext>
            </a:extLst>
          </p:cNvPr>
          <p:cNvSpPr txBox="1"/>
          <p:nvPr/>
        </p:nvSpPr>
        <p:spPr>
          <a:xfrm>
            <a:off x="292100" y="2274655"/>
            <a:ext cx="80772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Model Training STEPS </a:t>
            </a:r>
          </a:p>
          <a:p>
            <a:endParaRPr lang="en-IN" b="1" dirty="0">
              <a:solidFill>
                <a:srgbClr val="000000"/>
              </a:solidFill>
              <a:latin typeface="-webkit-standard"/>
            </a:endParaRPr>
          </a:p>
          <a:p>
            <a:pPr marL="342900" indent="-342900">
              <a:buAutoNum type="arabicPeriod"/>
            </a:pPr>
            <a:r>
              <a:rPr lang="en-IN" dirty="0">
                <a:solidFill>
                  <a:srgbClr val="000000"/>
                </a:solidFill>
                <a:latin typeface="-webkit-standard"/>
              </a:rPr>
              <a:t>Train Test Split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rgbClr val="000000"/>
                </a:solidFill>
                <a:latin typeface="-webkit-standard"/>
              </a:rPr>
              <a:t>Convert Snowpark DataFrame to Pandas DataFrame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rgbClr val="000000"/>
                </a:solidFill>
                <a:latin typeface="-webkit-standard"/>
              </a:rPr>
              <a:t>Define Algorithm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rgbClr val="000000"/>
                </a:solidFill>
                <a:latin typeface="-webkit-standard"/>
              </a:rPr>
              <a:t>Train the Model ( fit method) with train data with Labels.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rgbClr val="000000"/>
                </a:solidFill>
                <a:latin typeface="-webkit-standard"/>
              </a:rPr>
              <a:t>Prediction( predict method) with test data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rgbClr val="000000"/>
                </a:solidFill>
                <a:latin typeface="-webkit-standard"/>
              </a:rPr>
              <a:t>Evaluate the model ( ex. F1 Score , Precision , Recall)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rgbClr val="000000"/>
                </a:solidFill>
                <a:latin typeface="-webkit-standard"/>
              </a:rPr>
              <a:t>Create the Model Registry object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rgbClr val="000000"/>
                </a:solidFill>
                <a:latin typeface="-webkit-standard"/>
              </a:rPr>
              <a:t>Log the Base Model</a:t>
            </a:r>
          </a:p>
        </p:txBody>
      </p:sp>
    </p:spTree>
    <p:extLst>
      <p:ext uri="{BB962C8B-B14F-4D97-AF65-F5344CB8AC3E}">
        <p14:creationId xmlns:p14="http://schemas.microsoft.com/office/powerpoint/2010/main" val="4065319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1C82E-CA77-0512-69A2-9F83B2E9D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C445E6-FDAF-FAE3-F824-F3C1FFCD8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3BF1FF-55AC-ADF0-83F3-F77E36C36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72DE2A-B405-D3F2-5FD7-E2C0A59B0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0C9911-119F-C9E6-50C0-889B45D41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10E128C6-F617-89D5-C406-54F0CE721A6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6DA5E39B-A399-3311-E4D7-01EFF962EE06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C86E62-8DB2-13D1-9CA4-9B0E6ACD4F04}"/>
              </a:ext>
            </a:extLst>
          </p:cNvPr>
          <p:cNvSpPr/>
          <p:nvPr/>
        </p:nvSpPr>
        <p:spPr>
          <a:xfrm>
            <a:off x="3919288" y="473991"/>
            <a:ext cx="435349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MODEL DEVELOPMENT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94DA0-BD62-010F-B903-12613981CE2C}"/>
              </a:ext>
            </a:extLst>
          </p:cNvPr>
          <p:cNvSpPr txBox="1"/>
          <p:nvPr/>
        </p:nvSpPr>
        <p:spPr>
          <a:xfrm>
            <a:off x="292100" y="997211"/>
            <a:ext cx="11912600" cy="5586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Snowflake ML – Model Development Summary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End-to-End ML Development</a:t>
            </a:r>
            <a:endParaRPr lang="en-IN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Snowflake ML enables building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machine learning and deep learning models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directly within Snowflake.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Supports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popular open-source frameworks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(like scikit-learn, </a:t>
            </a:r>
            <a:r>
              <a:rPr lang="en-IN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TensorFlow, etc.).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Flexible Development Environments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Provides multiple environments for developing and running ML workflows —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interactive notebooks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or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automated jobs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Efficient Data Access &amp; Compute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Models are trained using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stored inside Snowflake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with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high-performance compute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and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 infrastructure management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required.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Option 1 – Snowflake Notebooks</a:t>
            </a:r>
            <a:endParaRPr lang="en-IN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Interactive development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environment for experimentation and model building. Ideal for data exploration, feature engineering, and iterative ML workflows. Runs on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Container Runtime for ML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within Snowflake.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Option 2 – Snowflake ML Jobs</a:t>
            </a:r>
            <a:endParaRPr lang="en-IN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Automated execution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of ML workflows from any environment (notebook, IDE, or CI/CD pipeline).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Useful for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scheduled training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batch inference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or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production ML pipelines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00368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97A13-3C26-1B64-B6CD-D27A4726B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217946C-926F-812E-35A3-EEF6969C2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4907A5-E389-384C-8EBE-44E17BC6C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C5EC16-5BC0-88FF-086C-2F5985DC0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1CB2DC-ADFA-B6E0-3F71-CF216BA67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C4B9AC4D-4D4F-130C-1685-96E680211D3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F1ED18E0-D63C-9D73-04DD-204D9A61456E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C6EADD-83C9-9E1A-7D58-1EBC22212AEB}"/>
              </a:ext>
            </a:extLst>
          </p:cNvPr>
          <p:cNvSpPr/>
          <p:nvPr/>
        </p:nvSpPr>
        <p:spPr>
          <a:xfrm>
            <a:off x="3919288" y="473991"/>
            <a:ext cx="435349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MODEL DEVELOPMENT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7CF726-CF57-16C4-48CA-7D64313F34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011" y="1141633"/>
            <a:ext cx="10634174" cy="524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578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E138C-D2FF-58F0-286D-7951DBF0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90CE67F-D2A7-75AB-9E2B-AF6B5B38AE47}"/>
              </a:ext>
            </a:extLst>
          </p:cNvPr>
          <p:cNvSpPr/>
          <p:nvPr/>
        </p:nvSpPr>
        <p:spPr>
          <a:xfrm>
            <a:off x="0" y="0"/>
            <a:ext cx="12192000" cy="715653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0A9B15C8-7AE9-BB25-1237-086406042C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226" b="2216"/>
          <a:stretch/>
        </p:blipFill>
        <p:spPr>
          <a:xfrm>
            <a:off x="10732796" y="323936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C981FD1E-26D6-F0F7-E7F0-9E5549F41EFF}"/>
              </a:ext>
            </a:extLst>
          </p:cNvPr>
          <p:cNvSpPr/>
          <p:nvPr/>
        </p:nvSpPr>
        <p:spPr>
          <a:xfrm>
            <a:off x="10808700" y="12700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2DA7C0-5AB5-08E7-55A0-768679187DFB}"/>
              </a:ext>
            </a:extLst>
          </p:cNvPr>
          <p:cNvSpPr/>
          <p:nvPr/>
        </p:nvSpPr>
        <p:spPr>
          <a:xfrm>
            <a:off x="313365" y="2678407"/>
            <a:ext cx="11341100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66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</a:p>
          <a:p>
            <a:pPr algn="ctr"/>
            <a:r>
              <a:rPr lang="en-GB" sz="66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REGISTRY</a:t>
            </a:r>
          </a:p>
        </p:txBody>
      </p:sp>
    </p:spTree>
    <p:extLst>
      <p:ext uri="{BB962C8B-B14F-4D97-AF65-F5344CB8AC3E}">
        <p14:creationId xmlns:p14="http://schemas.microsoft.com/office/powerpoint/2010/main" val="34380487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141DA-A3D0-225B-253C-E7C9D30AD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5FF553A-3E2E-2927-DC31-07A442A93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1FBEAB-36F6-4609-231D-C012753D6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E56F6F-FA0F-650A-5C4E-BA7ACDD08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97C9A1-E85E-6DC3-0730-AC09E6387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32CBD2CF-FC3E-FB5A-9090-DA25A56DB7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C4D976A2-42F4-A27A-26EC-F2663714AC08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721D8A-1F49-D44C-002F-E5049480730A}"/>
              </a:ext>
            </a:extLst>
          </p:cNvPr>
          <p:cNvSpPr/>
          <p:nvPr/>
        </p:nvSpPr>
        <p:spPr>
          <a:xfrm>
            <a:off x="4408205" y="473991"/>
            <a:ext cx="337566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MODEL REGISTRY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19BF0F-1F84-4F6D-555A-F197ACC51785}"/>
              </a:ext>
            </a:extLst>
          </p:cNvPr>
          <p:cNvSpPr txBox="1"/>
          <p:nvPr/>
        </p:nvSpPr>
        <p:spPr>
          <a:xfrm>
            <a:off x="495300" y="1141633"/>
            <a:ext cx="10769600" cy="5678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Snowflake Model Registry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is a centralized system to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store, version, govern, and serve ML models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securely inside Snowflake.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After training, you log your model in the 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Snowflake Model Registry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. After you have logged a model, you can invoke its methods (equivalent to functions or stored procedures) to perform model operations, such as inference , in a Snowflake virtual warehouse, or serve the model in Snowpark Container Services for GPU-based inference.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Works with 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Python-based ML models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developed in the Snowflake ML ecosystem or </a:t>
            </a:r>
            <a:r>
              <a:rPr lang="en-IN" b="1" dirty="0"/>
              <a:t>model trained externally.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Models built with </a:t>
            </a:r>
            <a:r>
              <a:rPr lang="en-IN" b="1" dirty="0"/>
              <a:t>Snowflake ML Functions</a:t>
            </a:r>
            <a:r>
              <a:rPr lang="en-IN" dirty="0"/>
              <a:t> (like FORECAST) </a:t>
            </a:r>
            <a:r>
              <a:rPr lang="en-IN" b="1" dirty="0"/>
              <a:t>are not </a:t>
            </a:r>
            <a:r>
              <a:rPr lang="en-IN" dirty="0"/>
              <a:t>managed in the registry.</a:t>
            </a:r>
            <a:endParaRPr lang="en-IN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Capabilities</a:t>
            </a:r>
            <a:endParaRPr lang="en-IN" sz="16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Versioning &amp; Metadata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– Stores model versions, metrics, and metadata.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Inference Serving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– Runs distributed inference using 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Python, SQL, or REST API endpoints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Lifecycle Management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– Supports dev → test → prod transitions with governance.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Monitoring &amp; Drift Detection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– Integrated with 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Snowflake ML Observability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for performance tracking.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Secure Access Control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– Uses 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Role-Based Access Control (RBAC)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for permissions.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0826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36307-2F4A-F99C-971F-2DFAFCA1E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76AC826-4FFF-6D69-3315-6EF603D2C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CC31B0-0A11-1F6F-2EE1-91ECC5269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F406FE-CA27-6673-C3C1-AC1A219A5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2A1515-16CD-3E2E-534B-103DB17A8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C5FCA0BF-3D73-C438-4678-5BD8F7EDCDB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81E0C6E9-B28E-DB2B-781C-599FB66EC7BB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F03E35-EFC0-5518-5153-4692D166A411}"/>
              </a:ext>
            </a:extLst>
          </p:cNvPr>
          <p:cNvSpPr/>
          <p:nvPr/>
        </p:nvSpPr>
        <p:spPr>
          <a:xfrm>
            <a:off x="4408205" y="473991"/>
            <a:ext cx="337566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MODEL REGISTRY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D3E811-CDA2-2075-C4AE-1B3AEBB71C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280" y="1141633"/>
            <a:ext cx="8981620" cy="543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6128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C49F0-5AE3-685A-6900-D4A05C670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0ECA41E-F302-ECA0-6E79-6A71E6D993CE}"/>
              </a:ext>
            </a:extLst>
          </p:cNvPr>
          <p:cNvSpPr/>
          <p:nvPr/>
        </p:nvSpPr>
        <p:spPr>
          <a:xfrm>
            <a:off x="0" y="0"/>
            <a:ext cx="12192000" cy="715653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007CD0FB-497C-00B0-F5FD-A038D2010C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226" b="2216"/>
          <a:stretch/>
        </p:blipFill>
        <p:spPr>
          <a:xfrm>
            <a:off x="10732796" y="323936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4DAB5422-749B-4D7D-A2E7-7EB817E7C882}"/>
              </a:ext>
            </a:extLst>
          </p:cNvPr>
          <p:cNvSpPr/>
          <p:nvPr/>
        </p:nvSpPr>
        <p:spPr>
          <a:xfrm>
            <a:off x="10808700" y="12700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5C20C5-7B5F-0E79-C6B4-40DB18308407}"/>
              </a:ext>
            </a:extLst>
          </p:cNvPr>
          <p:cNvSpPr/>
          <p:nvPr/>
        </p:nvSpPr>
        <p:spPr>
          <a:xfrm>
            <a:off x="313365" y="2678407"/>
            <a:ext cx="11341100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66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HYPER PARAMETER</a:t>
            </a:r>
          </a:p>
          <a:p>
            <a:pPr algn="ctr"/>
            <a:r>
              <a:rPr lang="en-GB" sz="66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</a:p>
        </p:txBody>
      </p:sp>
    </p:spTree>
    <p:extLst>
      <p:ext uri="{BB962C8B-B14F-4D97-AF65-F5344CB8AC3E}">
        <p14:creationId xmlns:p14="http://schemas.microsoft.com/office/powerpoint/2010/main" val="42942778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F7275-65E4-4265-0C76-6920A54DE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F86141B-2C7F-2B19-BA10-4406CB22C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539143-CE3A-9578-489E-03FA7D410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0A6EBB-FAF5-B6FE-5D53-E416E45C6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C2A353-5172-4E3A-0F7F-2D993F896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442DAB7A-4C98-5B76-65FB-F968996432A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CB3A5217-539D-78CB-55E8-AB423821EC5B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E5725B-F170-CA14-7148-7E7B07DFC3CF}"/>
              </a:ext>
            </a:extLst>
          </p:cNvPr>
          <p:cNvSpPr/>
          <p:nvPr/>
        </p:nvSpPr>
        <p:spPr>
          <a:xfrm>
            <a:off x="4112168" y="473991"/>
            <a:ext cx="396775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Hyperparameter Tuning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98E48B-0443-46E9-809C-6B2790503AE2}"/>
              </a:ext>
            </a:extLst>
          </p:cNvPr>
          <p:cNvSpPr txBox="1"/>
          <p:nvPr/>
        </p:nvSpPr>
        <p:spPr>
          <a:xfrm>
            <a:off x="495300" y="1141633"/>
            <a:ext cx="10769600" cy="5678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Hyperparameter tuning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means 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finding the best settings (parameters)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that control how your machine learning model learns — so it performs as well as possible. These “settings” are called 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hyperparameters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— things you set 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before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training the model.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Snowflake provides 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built-in tools and APIs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to make hyperparameter tuning 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fast, scalable, and easy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— directly 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inside Snowflake's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compute environment.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It automatically 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distributes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training jobs across Snowflake compute nodes.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You define your 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training logic once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, and Snowflake runs 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parallel experiments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with different hyperparameter combinations.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Snowflake’s Hyperparameter Optimization (HPO) API does not run on Virtual Warehouses.</a:t>
            </a: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It runs on Snowpark Container Services (Container Runtime for ML) instead.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5099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88A08-33B3-2CF1-5620-A56A132C2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2DE9B56-BED2-049F-1F22-26B57A0F4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0557AA-A291-6F39-D9EA-E85BD893A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AFCCF1-17A7-7A3B-595F-B4E58A52D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613CE01-4A6D-8919-4C91-C0572113D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8C5E9B83-3729-4343-C1F7-F7B8ACC4079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74FAB019-B6C7-5BCE-6A5B-A1613775F468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5B36D8-C979-10EC-ACCD-2DA631956E4A}"/>
              </a:ext>
            </a:extLst>
          </p:cNvPr>
          <p:cNvSpPr/>
          <p:nvPr/>
        </p:nvSpPr>
        <p:spPr>
          <a:xfrm>
            <a:off x="4112168" y="473991"/>
            <a:ext cx="396775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Hyperparameter Tuning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61BE1C-6136-CBB5-546F-0DF4EC8202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100" y="997211"/>
            <a:ext cx="7787822" cy="559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6399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C15D1-C494-9A6F-17B3-5C8113207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8CEC455-4A6E-F5EC-4A5F-47C555223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78BAEA-BC78-F4F4-9E98-DA29DA876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018A87-9A0C-8643-2990-224D929CA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F1DE32-A55F-81D7-9AAC-7E51F2A0C8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DC8800C3-F742-D4A6-47AC-8B6F3DDF3F6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22F89294-6ACE-874E-971C-F7351ABDCBDA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BFE681-516D-A0AC-669B-26418A86B283}"/>
              </a:ext>
            </a:extLst>
          </p:cNvPr>
          <p:cNvSpPr/>
          <p:nvPr/>
        </p:nvSpPr>
        <p:spPr>
          <a:xfrm>
            <a:off x="4112168" y="473991"/>
            <a:ext cx="396775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Hyperparameter Tuning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7E2541-E899-89B4-0C98-9A2CF0EB598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629"/>
          <a:stretch>
            <a:fillRect/>
          </a:stretch>
        </p:blipFill>
        <p:spPr>
          <a:xfrm>
            <a:off x="342345" y="1524957"/>
            <a:ext cx="10225609" cy="384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8833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37FD4-3D70-7C4E-A148-A5CF68228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98F3E30-31DD-8375-8F9D-8018C51AF77E}"/>
              </a:ext>
            </a:extLst>
          </p:cNvPr>
          <p:cNvSpPr/>
          <p:nvPr/>
        </p:nvSpPr>
        <p:spPr>
          <a:xfrm>
            <a:off x="0" y="12700"/>
            <a:ext cx="12192000" cy="714383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965618D7-9A78-F04E-5403-E6CDE96D300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226" b="2216"/>
          <a:stretch/>
        </p:blipFill>
        <p:spPr>
          <a:xfrm>
            <a:off x="10732796" y="323936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ACC96760-CC75-CA8C-932E-7AF130E33656}"/>
              </a:ext>
            </a:extLst>
          </p:cNvPr>
          <p:cNvSpPr/>
          <p:nvPr/>
        </p:nvSpPr>
        <p:spPr>
          <a:xfrm>
            <a:off x="10808700" y="12700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B377F9-01A2-3640-6B6B-AF903F7F34AA}"/>
              </a:ext>
            </a:extLst>
          </p:cNvPr>
          <p:cNvSpPr/>
          <p:nvPr/>
        </p:nvSpPr>
        <p:spPr>
          <a:xfrm>
            <a:off x="313365" y="2678407"/>
            <a:ext cx="11341100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66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</a:p>
          <a:p>
            <a:pPr algn="ctr"/>
            <a:r>
              <a:rPr lang="en-GB" sz="66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EXPLAINABLITY</a:t>
            </a:r>
          </a:p>
        </p:txBody>
      </p:sp>
    </p:spTree>
    <p:extLst>
      <p:ext uri="{BB962C8B-B14F-4D97-AF65-F5344CB8AC3E}">
        <p14:creationId xmlns:p14="http://schemas.microsoft.com/office/powerpoint/2010/main" val="40378626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DD40B-7D19-387C-18EE-F947A08D4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403E8B-4CAB-539C-1D18-89AEE37D4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2D02E7-9647-8E33-27CF-3B1A88D46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55CBAE-BFDB-82C9-4D52-B60D2BA91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AE5E67-3B7C-6581-FE9B-1D39451DD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BD84C171-A256-D58C-8BD1-FA30C40A4E7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16252DDD-D36A-4F14-89AB-37A94A94B418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430464-2E5E-4617-46EE-11C11420B844}"/>
              </a:ext>
            </a:extLst>
          </p:cNvPr>
          <p:cNvSpPr/>
          <p:nvPr/>
        </p:nvSpPr>
        <p:spPr>
          <a:xfrm>
            <a:off x="3946518" y="473991"/>
            <a:ext cx="429906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MODEL EXPLAINABLITY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B898E-319D-B63D-E3E9-1A1F90DBADDF}"/>
              </a:ext>
            </a:extLst>
          </p:cNvPr>
          <p:cNvSpPr txBox="1"/>
          <p:nvPr/>
        </p:nvSpPr>
        <p:spPr>
          <a:xfrm>
            <a:off x="774700" y="1146076"/>
            <a:ext cx="9843500" cy="5217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 explainability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means understanding </a:t>
            </a: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how and why a machine learning model makes its predictions</a:t>
            </a: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>
              <a:lnSpc>
                <a:spcPct val="150000"/>
              </a:lnSpc>
              <a:buNone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helps you answer questions like: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Why did the model predict “loan approved” instead of “loan denied”?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Which features (inputs) had the most impact on this prediction?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How sensitive is the model to changes in certain inputs?</a:t>
            </a:r>
            <a:endParaRPr lang="en-IN"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Types of Model Explainability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Global Explainability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Understands the model’s behavior 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overall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— what features generally matter most.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Feature importance plots, SHAP summary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Local Explainability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Explains 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a single prediction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— why the model predicted a specific outcome.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SHAP values for one row, LIME explanations</a:t>
            </a:r>
          </a:p>
        </p:txBody>
      </p:sp>
    </p:spTree>
    <p:extLst>
      <p:ext uri="{BB962C8B-B14F-4D97-AF65-F5344CB8AC3E}">
        <p14:creationId xmlns:p14="http://schemas.microsoft.com/office/powerpoint/2010/main" val="40129346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98434-F019-3E5A-D933-2F5B16B30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1322CFC-C79C-5ADB-E1A0-D72F8AB05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FFE3FF-4045-9D5C-7391-D60477352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59B9DA-2BCA-FC6A-865C-3AB2AAAD4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A2EA98-1150-E70B-036C-556DD7E61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6089C3DF-68AA-99C2-30E4-B671C4B42F4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D03BCECB-0C3E-876B-EBA3-2C3E6728034E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38BE47-2682-7689-A6FF-40162F0FEAD1}"/>
              </a:ext>
            </a:extLst>
          </p:cNvPr>
          <p:cNvSpPr/>
          <p:nvPr/>
        </p:nvSpPr>
        <p:spPr>
          <a:xfrm>
            <a:off x="2680443" y="473991"/>
            <a:ext cx="683122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SHAP – DEPENDENCE SCATTER PLOT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22E550-29B4-0B0A-1653-608FADB8654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53"/>
          <a:stretch>
            <a:fillRect/>
          </a:stretch>
        </p:blipFill>
        <p:spPr>
          <a:xfrm>
            <a:off x="750012" y="1362243"/>
            <a:ext cx="10887189" cy="448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9182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54CE1-838E-32B3-F37E-1621A613E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DCEB1EB-7433-D745-D763-256F030DF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3B5CE8-DF28-0899-FA30-4BDFD713C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B5433F-9F31-BB46-237E-FE0C5C5D1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6EA680-E09F-46A6-DBEE-99038887E1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B7E2C6C7-8E24-A632-CC30-2763FD45BDC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F076AEC5-A4FC-DAF4-FBEA-FA4B9DC0701B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E197C4-2BB3-BBDD-082B-00C8F9B8B027}"/>
              </a:ext>
            </a:extLst>
          </p:cNvPr>
          <p:cNvSpPr/>
          <p:nvPr/>
        </p:nvSpPr>
        <p:spPr>
          <a:xfrm>
            <a:off x="3929531" y="473991"/>
            <a:ext cx="433304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SHAP - SUMMARY PLOT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98012C-02ED-98AF-5F55-2972FD4DA6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4550" y="1002684"/>
            <a:ext cx="7772400" cy="539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3725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4C7C8-A38C-8AAB-4C23-52CBF0471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D65105-0B45-F114-EE04-DF316145B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B432F5-9959-0F18-E395-8713B9AB2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22C535-F6E7-9A63-A569-B41771FDE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4805C98-45C5-B71C-0F3B-1DB29EDA5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E1CDB9D4-3150-64BE-D464-2C1F856D403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10EC8E2B-3645-79B8-9D70-49D8449E508D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8408E6-403F-EE47-1E78-70A4BF9109F3}"/>
              </a:ext>
            </a:extLst>
          </p:cNvPr>
          <p:cNvSpPr/>
          <p:nvPr/>
        </p:nvSpPr>
        <p:spPr>
          <a:xfrm>
            <a:off x="3976471" y="473991"/>
            <a:ext cx="423917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SHAP – SCATTER PLOT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A15080-C2FA-2E43-41BA-906799BC62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5859" y="1141633"/>
            <a:ext cx="8919981" cy="518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1208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3B2CD-3AF9-694E-9F6D-97AA36063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9E9D75-644D-6457-65D1-166AFE70C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198B8C-E1EC-1ADF-7B00-D78289244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2BE08A-734B-D957-50A6-165EB4905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2B60F0-41E4-4F10-D9C5-D39E1A0B1D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5288BFDC-CE21-99AD-751F-ACA2492BCE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3D6753E5-AACD-A1E3-9B82-6DD1EB51450C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C5A486-D054-BE44-8664-70C3CABF405F}"/>
              </a:ext>
            </a:extLst>
          </p:cNvPr>
          <p:cNvSpPr/>
          <p:nvPr/>
        </p:nvSpPr>
        <p:spPr>
          <a:xfrm>
            <a:off x="4422362" y="473991"/>
            <a:ext cx="334739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SHAP – BOX PLOT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224ACE-43DB-7859-3194-61E0B95DCB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5400" y="1069422"/>
            <a:ext cx="9348200" cy="543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7981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39341-0100-3C67-1D91-C6F6522CB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F6AEECA-38FB-63C6-AC38-7A1D0BA07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C54C2F-D81C-798F-F8D3-44072E74B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A41CEE-E585-872B-9881-6F44F1648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5E2DCA-2E3D-4C37-85F9-878ED116C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0460237E-32DC-8BCE-8B6A-908BDE4BB56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B9A11C27-D837-06CB-9F00-6C0F036E3B13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C0B8F7-BC43-B8F8-4CE9-7006A3146035}"/>
              </a:ext>
            </a:extLst>
          </p:cNvPr>
          <p:cNvSpPr/>
          <p:nvPr/>
        </p:nvSpPr>
        <p:spPr>
          <a:xfrm>
            <a:off x="4422362" y="473991"/>
            <a:ext cx="334739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SHAP – BOX PLOT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0326F4-31F1-BC1D-F9DF-2CE1DDFFC5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9304" y="1037446"/>
            <a:ext cx="8053391" cy="550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5505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B50A3-5F3D-95B1-0609-F31E7BF86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16AF415-EB6E-8327-6955-FA1408F34FC0}"/>
              </a:ext>
            </a:extLst>
          </p:cNvPr>
          <p:cNvSpPr/>
          <p:nvPr/>
        </p:nvSpPr>
        <p:spPr>
          <a:xfrm>
            <a:off x="0" y="0"/>
            <a:ext cx="12192000" cy="6832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66C2D8A0-F5C7-C83D-E930-35A6088B60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226" b="2216"/>
          <a:stretch/>
        </p:blipFill>
        <p:spPr>
          <a:xfrm>
            <a:off x="10732796" y="323936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F52F79CF-8187-77B9-5635-E8D46F741DB8}"/>
              </a:ext>
            </a:extLst>
          </p:cNvPr>
          <p:cNvSpPr/>
          <p:nvPr/>
        </p:nvSpPr>
        <p:spPr>
          <a:xfrm>
            <a:off x="10808700" y="12700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6AC568-6FE6-F8EF-3B62-022A08B5B5C7}"/>
              </a:ext>
            </a:extLst>
          </p:cNvPr>
          <p:cNvSpPr/>
          <p:nvPr/>
        </p:nvSpPr>
        <p:spPr>
          <a:xfrm>
            <a:off x="349545" y="3186238"/>
            <a:ext cx="11341100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66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ML OBSERVABLITY</a:t>
            </a:r>
          </a:p>
        </p:txBody>
      </p:sp>
    </p:spTree>
    <p:extLst>
      <p:ext uri="{BB962C8B-B14F-4D97-AF65-F5344CB8AC3E}">
        <p14:creationId xmlns:p14="http://schemas.microsoft.com/office/powerpoint/2010/main" val="13543468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5A675-3F44-ED7D-2BE9-D35F1DCCB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D0E5837-2173-6BA2-2D19-D118BF434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0A0F2F-02BF-1A2B-9C70-3F2E8B36D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0AF3C8-561B-DFD7-DB71-45BF3CF37E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155DDE-3CDA-B89A-BD85-E7D173A01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8F791D03-A13C-4F12-3AC1-0B872C45D75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B2CA9AB7-D4FB-A37B-549F-40C0321C64B5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3CB238-A6A6-915E-F82D-66D37DAC5921}"/>
              </a:ext>
            </a:extLst>
          </p:cNvPr>
          <p:cNvSpPr/>
          <p:nvPr/>
        </p:nvSpPr>
        <p:spPr>
          <a:xfrm>
            <a:off x="4362243" y="473991"/>
            <a:ext cx="346761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ML OBSERVABLITY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8CE655-8AE0-7CF1-FD3A-D45E338E1B88}"/>
              </a:ext>
            </a:extLst>
          </p:cNvPr>
          <p:cNvSpPr txBox="1"/>
          <p:nvPr/>
        </p:nvSpPr>
        <p:spPr>
          <a:xfrm>
            <a:off x="774700" y="1146076"/>
            <a:ext cx="9843500" cy="3001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Machine Learning (ML) Observability means 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monitoring, analysing, and understanding how your ML models behave in production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 — similar to how application observability monitors software systems.</a:t>
            </a:r>
          </a:p>
          <a:p>
            <a:pPr>
              <a:lnSpc>
                <a:spcPct val="150000"/>
              </a:lnSpc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It helps answer: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Is the model still accurate after deployment?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Has data drifted compared to what the model was trained 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Are predictions biased or degrading over time?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When should we retrain the model?</a:t>
            </a:r>
          </a:p>
          <a:p>
            <a:pPr>
              <a:lnSpc>
                <a:spcPct val="150000"/>
              </a:lnSpc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3514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E9CB1-44DD-0BD2-5B06-1B85C487C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3108F4F-8106-181F-97DC-436217810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D0E097-7A61-C7A1-B485-900ED1AEA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CD27E9-3782-BFD8-2FC6-A59DCB375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11DC63-39A0-D697-F126-FFA0C39C6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E368C9F2-F42A-3790-5261-B9EB99B45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D9C25A3F-110C-3CE9-6ACF-4E5F752D8BBB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F06F0A-BD63-20DD-6AB9-29319410AEC0}"/>
              </a:ext>
            </a:extLst>
          </p:cNvPr>
          <p:cNvSpPr/>
          <p:nvPr/>
        </p:nvSpPr>
        <p:spPr>
          <a:xfrm>
            <a:off x="4362243" y="473991"/>
            <a:ext cx="346761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ML OBSERVABLITY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7674ED-6205-50DD-427E-99EABD4603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9144" y="1803851"/>
            <a:ext cx="5013528" cy="21689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4F2468-73EF-7E62-A508-A3791B8A73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535" y="1690667"/>
            <a:ext cx="5136362" cy="22221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50C6AC-CF07-B84D-FC2B-6E695F2048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535" y="4178466"/>
            <a:ext cx="7772400" cy="234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2491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0C726-1264-5A9D-A0E4-E7DC71E8C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3E1E1F-12BA-8733-AC55-6CC5BDA3A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44A4E5-2ADA-753F-7D30-D6F6B59DF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09D3B0-E50D-7438-662E-2102ACB14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F322AF-2600-6016-15AC-C6C97F884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97F240A8-E532-7E26-A940-1350014B941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F68C9E56-72AC-7B89-0A06-7CBBF9F99E41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15A96F-DA71-D89D-082D-916547CB0EF3}"/>
              </a:ext>
            </a:extLst>
          </p:cNvPr>
          <p:cNvSpPr/>
          <p:nvPr/>
        </p:nvSpPr>
        <p:spPr>
          <a:xfrm>
            <a:off x="4362243" y="473991"/>
            <a:ext cx="346761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ML OBSERVABLITY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FBC5A7-3C03-0F78-D21F-C27C507D97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4550" y="1011067"/>
            <a:ext cx="8231526" cy="547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3003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F3553-D95C-B733-2856-5DDF8504D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ECEFA5C-6E4B-6472-0BD9-C7DFEEED8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292100" cy="6845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308E31-D60F-7D01-4B38-6A2BCEEEE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22974"/>
            <a:ext cx="292100" cy="6845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8EF083-9577-7A7C-8654-7725D1168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79231"/>
            <a:ext cx="12242800" cy="304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252F2B-4016-0055-9AAA-BE58BA2DD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5400"/>
            <a:ext cx="12242809" cy="304169"/>
          </a:xfrm>
          <a:prstGeom prst="rect">
            <a:avLst/>
          </a:prstGeom>
        </p:spPr>
      </p:pic>
      <p:pic>
        <p:nvPicPr>
          <p:cNvPr id="13" name="Google Shape;501;p67">
            <a:extLst>
              <a:ext uri="{FF2B5EF4-FFF2-40B4-BE49-F238E27FC236}">
                <a16:creationId xmlns:a16="http://schemas.microsoft.com/office/drawing/2014/main" id="{3AA94B1C-86D5-2301-50E4-4B4311F9D25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2226" b="2216"/>
          <a:stretch/>
        </p:blipFill>
        <p:spPr>
          <a:xfrm>
            <a:off x="10532021" y="694601"/>
            <a:ext cx="1383299" cy="47925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02;p67">
            <a:extLst>
              <a:ext uri="{FF2B5EF4-FFF2-40B4-BE49-F238E27FC236}">
                <a16:creationId xmlns:a16="http://schemas.microsoft.com/office/drawing/2014/main" id="{7EE9FB42-E556-948F-D1E0-84F7913D88F3}"/>
              </a:ext>
            </a:extLst>
          </p:cNvPr>
          <p:cNvSpPr/>
          <p:nvPr/>
        </p:nvSpPr>
        <p:spPr>
          <a:xfrm>
            <a:off x="10618200" y="342269"/>
            <a:ext cx="1383300" cy="182700"/>
          </a:xfrm>
          <a:prstGeom prst="rect">
            <a:avLst/>
          </a:prstGeom>
          <a:solidFill>
            <a:srgbClr val="B3D5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2C029F-B257-39E2-70FF-FCE07C63B3CE}"/>
              </a:ext>
            </a:extLst>
          </p:cNvPr>
          <p:cNvSpPr/>
          <p:nvPr/>
        </p:nvSpPr>
        <p:spPr>
          <a:xfrm>
            <a:off x="3205200" y="473991"/>
            <a:ext cx="578171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2800" b="0" cap="none" spc="0" dirty="0">
                <a:ln w="0"/>
                <a:solidFill>
                  <a:srgbClr val="92D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END TO END ML IN SNOWFLAKE</a:t>
            </a:r>
            <a:endParaRPr lang="en-US" sz="2800" b="0" cap="none" spc="0" dirty="0">
              <a:ln w="0"/>
              <a:solidFill>
                <a:srgbClr val="92D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89ED61-B649-1DCC-ADE6-186CFC8835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181" y="1173856"/>
            <a:ext cx="10944546" cy="493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5336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88;p156">
            <a:extLst>
              <a:ext uri="{FF2B5EF4-FFF2-40B4-BE49-F238E27FC236}">
                <a16:creationId xmlns:a16="http://schemas.microsoft.com/office/drawing/2014/main" id="{2AC3082D-79EB-165D-F6A6-D1FFA34EBAE0}"/>
              </a:ext>
            </a:extLst>
          </p:cNvPr>
          <p:cNvSpPr txBox="1"/>
          <p:nvPr/>
        </p:nvSpPr>
        <p:spPr>
          <a:xfrm>
            <a:off x="45800" y="2722525"/>
            <a:ext cx="12103500" cy="10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0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 dirty="0">
                <a:solidFill>
                  <a:srgbClr val="2A2D38"/>
                </a:solidFill>
                <a:latin typeface="Montserrat"/>
                <a:ea typeface="Montserrat"/>
                <a:cs typeface="Montserrat"/>
                <a:sym typeface="Montserrat"/>
              </a:rPr>
              <a:t>THANK YOU!</a:t>
            </a:r>
            <a:endParaRPr sz="7200" b="1" dirty="0">
              <a:solidFill>
                <a:srgbClr val="2A2D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1589;p156">
            <a:extLst>
              <a:ext uri="{FF2B5EF4-FFF2-40B4-BE49-F238E27FC236}">
                <a16:creationId xmlns:a16="http://schemas.microsoft.com/office/drawing/2014/main" id="{0DECAE7B-92C9-E11B-4360-DC2C79226836}"/>
              </a:ext>
            </a:extLst>
          </p:cNvPr>
          <p:cNvSpPr txBox="1"/>
          <p:nvPr/>
        </p:nvSpPr>
        <p:spPr>
          <a:xfrm>
            <a:off x="3182438" y="4192786"/>
            <a:ext cx="58218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>
                <a:solidFill>
                  <a:srgbClr val="2A2D38"/>
                </a:solidFill>
              </a:rPr>
              <a:t>Let’s stay in touch</a:t>
            </a:r>
            <a:endParaRPr sz="2300" b="1" dirty="0">
              <a:solidFill>
                <a:srgbClr val="2A2D38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2300" dirty="0">
              <a:solidFill>
                <a:srgbClr val="2A2D38"/>
              </a:solidFill>
            </a:endParaRPr>
          </a:p>
        </p:txBody>
      </p:sp>
      <p:sp>
        <p:nvSpPr>
          <p:cNvPr id="6" name="Google Shape;1590;p156">
            <a:extLst>
              <a:ext uri="{FF2B5EF4-FFF2-40B4-BE49-F238E27FC236}">
                <a16:creationId xmlns:a16="http://schemas.microsoft.com/office/drawing/2014/main" id="{46898994-0EF2-32AA-ED2C-FA065997A92E}"/>
              </a:ext>
            </a:extLst>
          </p:cNvPr>
          <p:cNvSpPr txBox="1"/>
          <p:nvPr/>
        </p:nvSpPr>
        <p:spPr>
          <a:xfrm>
            <a:off x="1453988" y="5936050"/>
            <a:ext cx="9278700" cy="1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25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B3D504"/>
                </a:solidFill>
                <a:latin typeface="Proxima Nova"/>
                <a:ea typeface="Proxima Nova"/>
                <a:cs typeface="Proxima Nova"/>
                <a:sym typeface="Proxima Nova"/>
              </a:rPr>
              <a:t>www.kipi.ai</a:t>
            </a:r>
            <a:endParaRPr sz="1700">
              <a:solidFill>
                <a:srgbClr val="B3D50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" name="Google Shape;1591;p156">
            <a:extLst>
              <a:ext uri="{FF2B5EF4-FFF2-40B4-BE49-F238E27FC236}">
                <a16:creationId xmlns:a16="http://schemas.microsoft.com/office/drawing/2014/main" id="{0A3A89EC-5E3D-0A77-9D03-E0ED9E05E11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93073" y="6010462"/>
            <a:ext cx="534092" cy="69177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592;p156">
            <a:extLst>
              <a:ext uri="{FF2B5EF4-FFF2-40B4-BE49-F238E27FC236}">
                <a16:creationId xmlns:a16="http://schemas.microsoft.com/office/drawing/2014/main" id="{7D8F97FF-1CE0-8143-3020-C58B60C3C3E3}"/>
              </a:ext>
            </a:extLst>
          </p:cNvPr>
          <p:cNvSpPr/>
          <p:nvPr/>
        </p:nvSpPr>
        <p:spPr>
          <a:xfrm rot="-5400000">
            <a:off x="10978297" y="5509447"/>
            <a:ext cx="963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>
                <a:solidFill>
                  <a:srgbClr val="878787"/>
                </a:solidFill>
                <a:latin typeface="Proxima Nova"/>
                <a:ea typeface="Proxima Nova"/>
                <a:cs typeface="Proxima Nova"/>
                <a:sym typeface="Proxima Nova"/>
              </a:rPr>
              <a:t>© 2022 by kipi.bi</a:t>
            </a:r>
            <a:endParaRPr sz="800">
              <a:solidFill>
                <a:srgbClr val="87878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1594;p156">
            <a:extLst>
              <a:ext uri="{FF2B5EF4-FFF2-40B4-BE49-F238E27FC236}">
                <a16:creationId xmlns:a16="http://schemas.microsoft.com/office/drawing/2014/main" id="{10F81C85-9C16-BC95-AB63-993E34218D1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5346" y="1046112"/>
            <a:ext cx="2217149" cy="8281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9714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B0F0"/>
        </a:solidFill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7049</TotalTime>
  <Words>2018</Words>
  <Application>Microsoft Macintosh PowerPoint</Application>
  <PresentationFormat>Widescreen</PresentationFormat>
  <Paragraphs>252</Paragraphs>
  <Slides>45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-webkit-standard</vt:lpstr>
      <vt:lpstr>Arial</vt:lpstr>
      <vt:lpstr>Calibri</vt:lpstr>
      <vt:lpstr>Calibri Light</vt:lpstr>
      <vt:lpstr>Montserrat</vt:lpstr>
      <vt:lpstr>Montserrat Medium</vt:lpstr>
      <vt:lpstr>Proxima Nova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Saara</dc:creator>
  <cp:lastModifiedBy>Saara</cp:lastModifiedBy>
  <cp:revision>55</cp:revision>
  <dcterms:created xsi:type="dcterms:W3CDTF">2025-09-26T06:41:24Z</dcterms:created>
  <dcterms:modified xsi:type="dcterms:W3CDTF">2025-10-26T16:43:41Z</dcterms:modified>
</cp:coreProperties>
</file>